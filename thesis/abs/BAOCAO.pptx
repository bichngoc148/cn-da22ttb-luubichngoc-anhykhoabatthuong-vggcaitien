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301" r:id="rId3"/>
    <p:sldId id="259" r:id="rId4"/>
    <p:sldId id="327" r:id="rId5"/>
    <p:sldId id="271" r:id="rId6"/>
    <p:sldId id="343" r:id="rId7"/>
    <p:sldId id="329" r:id="rId8"/>
    <p:sldId id="272" r:id="rId9"/>
    <p:sldId id="330" r:id="rId10"/>
    <p:sldId id="273" r:id="rId11"/>
    <p:sldId id="331" r:id="rId12"/>
    <p:sldId id="306" r:id="rId13"/>
    <p:sldId id="332" r:id="rId14"/>
    <p:sldId id="333" r:id="rId15"/>
    <p:sldId id="334" r:id="rId16"/>
    <p:sldId id="317" r:id="rId17"/>
    <p:sldId id="318" r:id="rId18"/>
    <p:sldId id="335" r:id="rId19"/>
    <p:sldId id="275" r:id="rId20"/>
    <p:sldId id="336" r:id="rId21"/>
    <p:sldId id="337" r:id="rId22"/>
    <p:sldId id="340" r:id="rId23"/>
    <p:sldId id="338" r:id="rId24"/>
    <p:sldId id="341" r:id="rId25"/>
    <p:sldId id="342" r:id="rId26"/>
    <p:sldId id="325" r:id="rId27"/>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0"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94" autoAdjust="0"/>
    <p:restoredTop sz="94660"/>
  </p:normalViewPr>
  <p:slideViewPr>
    <p:cSldViewPr snapToGrid="0">
      <p:cViewPr>
        <p:scale>
          <a:sx n="50" d="100"/>
          <a:sy n="50" d="100"/>
        </p:scale>
        <p:origin x="774" y="480"/>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316DA8-612F-CC4C-A6BA-00E36C6A14C7}" type="datetimeFigureOut">
              <a:t>1/10/2026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A1C381-B670-2C4A-B7AB-B3DD2818A2C1}" type="slidenum">
              <a:t>‹#›</a:t>
            </a:fld>
            <a:endParaRPr kumimoji="1" lang="zh-CN" altLang="en-US"/>
          </a:p>
        </p:txBody>
      </p:sp>
    </p:spTree>
    <p:extLst>
      <p:ext uri="{BB962C8B-B14F-4D97-AF65-F5344CB8AC3E}">
        <p14:creationId xmlns:p14="http://schemas.microsoft.com/office/powerpoint/2010/main" val="2954590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046303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97496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862893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9BDFEF2-C835-EF4C-B68E-C44DDF7D262A}"/>
              </a:ext>
            </a:extLst>
          </p:cNvPr>
          <p:cNvSpPr/>
          <p:nvPr userDrawn="1"/>
        </p:nvSpPr>
        <p:spPr>
          <a:xfrm>
            <a:off x="0" y="1"/>
            <a:ext cx="12192000" cy="742950"/>
          </a:xfrm>
          <a:prstGeom prst="rect">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线连接符 7">
            <a:extLst>
              <a:ext uri="{FF2B5EF4-FFF2-40B4-BE49-F238E27FC236}">
                <a16:creationId xmlns:a16="http://schemas.microsoft.com/office/drawing/2014/main" id="{97C00D26-AF6C-9C47-9C8C-02C52513607B}"/>
              </a:ext>
            </a:extLst>
          </p:cNvPr>
          <p:cNvCxnSpPr/>
          <p:nvPr userDrawn="1"/>
        </p:nvCxnSpPr>
        <p:spPr>
          <a:xfrm>
            <a:off x="1214438" y="847725"/>
            <a:ext cx="10858500" cy="0"/>
          </a:xfrm>
          <a:prstGeom prst="line">
            <a:avLst/>
          </a:prstGeom>
          <a:ln w="12700">
            <a:solidFill>
              <a:srgbClr val="4F292F">
                <a:alpha val="99000"/>
              </a:srgbClr>
            </a:solidFill>
          </a:ln>
        </p:spPr>
        <p:style>
          <a:lnRef idx="1">
            <a:schemeClr val="accent1"/>
          </a:lnRef>
          <a:fillRef idx="0">
            <a:schemeClr val="accent1"/>
          </a:fillRef>
          <a:effectRef idx="0">
            <a:schemeClr val="accent1"/>
          </a:effectRef>
          <a:fontRef idx="minor">
            <a:schemeClr val="tx1"/>
          </a:fontRef>
        </p:style>
      </p:cxnSp>
      <p:pic>
        <p:nvPicPr>
          <p:cNvPr id="2" name="Picture 1" descr="Thông báo - tvu.edu.vn">
            <a:extLst>
              <a:ext uri="{FF2B5EF4-FFF2-40B4-BE49-F238E27FC236}">
                <a16:creationId xmlns:a16="http://schemas.microsoft.com/office/drawing/2014/main" id="{5F5AE878-576F-C2E3-47D1-24E99AF46DA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46874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186807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9499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6" r:id="rId5"/>
  </p:sldLayoutIdLst>
  <mc:AlternateContent xmlns:mc="http://schemas.openxmlformats.org/markup-compatibility/2006" xmlns:p14="http://schemas.microsoft.com/office/powerpoint/2010/main">
    <mc:Choice Requires="p14">
      <p:transition spd="slow" p14:dur="2000" advTm="3000"/>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tif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tif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E03ACF8-EABC-1D4F-87BF-8E50DBEA5456}"/>
              </a:ext>
            </a:extLst>
          </p:cNvPr>
          <p:cNvSpPr txBox="1"/>
          <p:nvPr/>
        </p:nvSpPr>
        <p:spPr>
          <a:xfrm>
            <a:off x="2769048" y="2605220"/>
            <a:ext cx="6865935" cy="1188720"/>
          </a:xfrm>
          <a:prstGeom prst="rect">
            <a:avLst/>
          </a:prstGeom>
          <a:noFill/>
        </p:spPr>
        <p:txBody>
          <a:bodyPr wrap="square" rtlCol="0">
            <a:noAutofit/>
          </a:bodyPr>
          <a:lstStyle/>
          <a:p>
            <a:pPr algn="ctr"/>
            <a:r>
              <a:rPr lang="vi-VN" sz="3200" dirty="0">
                <a:latin typeface="Noto Sans" panose="020B0502040504020204" pitchFamily="34" charset="0"/>
                <a:ea typeface="Noto Sans" panose="020B0502040504020204" pitchFamily="34" charset="0"/>
                <a:cs typeface="Noto Sans" panose="020B0502040504020204" pitchFamily="34" charset="0"/>
              </a:rPr>
              <a:t>Phát hiện ảnh y khoa bất thường dựa trên ứng dụng mô hình VGGNet cải tiến.</a:t>
            </a:r>
            <a:endParaRPr kumimoji="1" lang="vi-VN" altLang="vi-VN" sz="32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p:txBody>
      </p:sp>
      <p:sp>
        <p:nvSpPr>
          <p:cNvPr id="4" name="直角三角形 3">
            <a:extLst>
              <a:ext uri="{FF2B5EF4-FFF2-40B4-BE49-F238E27FC236}">
                <a16:creationId xmlns:a16="http://schemas.microsoft.com/office/drawing/2014/main" id="{E8830590-575E-754B-BBD1-CF430B4CE861}"/>
              </a:ext>
            </a:extLst>
          </p:cNvPr>
          <p:cNvSpPr/>
          <p:nvPr/>
        </p:nvSpPr>
        <p:spPr>
          <a:xfrm rot="5400000">
            <a:off x="-1" y="9939"/>
            <a:ext cx="3892064" cy="389206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直角三角形 14">
            <a:extLst>
              <a:ext uri="{FF2B5EF4-FFF2-40B4-BE49-F238E27FC236}">
                <a16:creationId xmlns:a16="http://schemas.microsoft.com/office/drawing/2014/main" id="{C5D500DF-C263-EE41-83EB-0A173207DC00}"/>
              </a:ext>
            </a:extLst>
          </p:cNvPr>
          <p:cNvSpPr/>
          <p:nvPr/>
        </p:nvSpPr>
        <p:spPr>
          <a:xfrm rot="16200000">
            <a:off x="7878416" y="2544416"/>
            <a:ext cx="4313583" cy="4313583"/>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 name="直线连接符 5">
            <a:extLst>
              <a:ext uri="{FF2B5EF4-FFF2-40B4-BE49-F238E27FC236}">
                <a16:creationId xmlns:a16="http://schemas.microsoft.com/office/drawing/2014/main" id="{5833D964-DFE2-EA42-A16F-D71FA404BCAF}"/>
              </a:ext>
            </a:extLst>
          </p:cNvPr>
          <p:cNvCxnSpPr/>
          <p:nvPr/>
        </p:nvCxnSpPr>
        <p:spPr>
          <a:xfrm flipH="1">
            <a:off x="0" y="822760"/>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BB5050BC-6ED4-E44B-B4A4-0095BD2CF516}"/>
              </a:ext>
            </a:extLst>
          </p:cNvPr>
          <p:cNvCxnSpPr/>
          <p:nvPr/>
        </p:nvCxnSpPr>
        <p:spPr>
          <a:xfrm flipH="1">
            <a:off x="7484926" y="3370197"/>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9" name="圆角矩形 18">
            <a:extLst>
              <a:ext uri="{FF2B5EF4-FFF2-40B4-BE49-F238E27FC236}">
                <a16:creationId xmlns:a16="http://schemas.microsoft.com/office/drawing/2014/main" id="{241761F3-AF46-B743-A19B-C74E9D95957D}"/>
              </a:ext>
            </a:extLst>
          </p:cNvPr>
          <p:cNvSpPr/>
          <p:nvPr/>
        </p:nvSpPr>
        <p:spPr>
          <a:xfrm>
            <a:off x="3909388" y="225095"/>
            <a:ext cx="4585254" cy="572595"/>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EECA7071-4ABB-C345-ADBD-35F30AF76DE0}"/>
              </a:ext>
            </a:extLst>
          </p:cNvPr>
          <p:cNvSpPr txBox="1"/>
          <p:nvPr/>
        </p:nvSpPr>
        <p:spPr>
          <a:xfrm>
            <a:off x="109297" y="4643206"/>
            <a:ext cx="5389079" cy="1473840"/>
          </a:xfrm>
          <a:prstGeom prst="rect">
            <a:avLst/>
          </a:prstGeom>
          <a:noFill/>
        </p:spPr>
        <p:txBody>
          <a:bodyPr wrap="none" rtlCol="0">
            <a:noAutofit/>
          </a:bodyPr>
          <a:lstStyle/>
          <a:p>
            <a:pPr>
              <a:lnSpc>
                <a:spcPct val="150000"/>
              </a:lnSpc>
            </a:pPr>
            <a:r>
              <a:rPr kumimoji="1" lang="en-US" altLang="vi-VN" sz="2000" dirty="0" err="1">
                <a:solidFill>
                  <a:schemeClr val="tx1">
                    <a:lumMod val="75000"/>
                    <a:lumOff val="25000"/>
                  </a:schemeClr>
                </a:solidFill>
                <a:latin typeface="Noto Sans"/>
                <a:ea typeface="Noto Sans"/>
              </a:rPr>
              <a:t>Giảng</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viên</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hướng</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dẫn</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Nguyễn</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Mộng</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Hiền</a:t>
            </a:r>
            <a:endParaRPr kumimoji="1" lang="en-US" altLang="vi-VN" sz="2000" dirty="0">
              <a:solidFill>
                <a:schemeClr val="tx1">
                  <a:lumMod val="75000"/>
                  <a:lumOff val="25000"/>
                </a:schemeClr>
              </a:solidFill>
              <a:latin typeface="Noto Sans"/>
              <a:ea typeface="Noto Sans"/>
            </a:endParaRPr>
          </a:p>
          <a:p>
            <a:pPr>
              <a:lnSpc>
                <a:spcPct val="150000"/>
              </a:lnSpc>
            </a:pPr>
            <a:r>
              <a:rPr kumimoji="1" lang="en-US" altLang="vi-VN" sz="2000" dirty="0">
                <a:solidFill>
                  <a:schemeClr val="tx1">
                    <a:lumMod val="75000"/>
                    <a:lumOff val="25000"/>
                  </a:schemeClr>
                </a:solidFill>
                <a:latin typeface="Noto Sans"/>
                <a:ea typeface="Noto Sans"/>
              </a:rPr>
              <a:t>Sinh </a:t>
            </a:r>
            <a:r>
              <a:rPr kumimoji="1" lang="en-US" altLang="vi-VN" sz="2000" dirty="0" err="1">
                <a:solidFill>
                  <a:schemeClr val="tx1">
                    <a:lumMod val="75000"/>
                    <a:lumOff val="25000"/>
                  </a:schemeClr>
                </a:solidFill>
                <a:latin typeface="Noto Sans"/>
                <a:ea typeface="Noto Sans"/>
              </a:rPr>
              <a:t>viên</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thực</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hiện</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Lưu</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Bích</a:t>
            </a:r>
            <a:r>
              <a:rPr kumimoji="1" lang="en-US" altLang="vi-VN" sz="2000" dirty="0">
                <a:solidFill>
                  <a:schemeClr val="tx1">
                    <a:lumMod val="75000"/>
                    <a:lumOff val="25000"/>
                  </a:schemeClr>
                </a:solidFill>
                <a:latin typeface="Noto Sans"/>
                <a:ea typeface="Noto Sans"/>
              </a:rPr>
              <a:t> </a:t>
            </a:r>
            <a:r>
              <a:rPr kumimoji="1" lang="en-US" altLang="vi-VN" sz="2000" dirty="0" err="1">
                <a:solidFill>
                  <a:schemeClr val="tx1">
                    <a:lumMod val="75000"/>
                    <a:lumOff val="25000"/>
                  </a:schemeClr>
                </a:solidFill>
                <a:latin typeface="Noto Sans"/>
                <a:ea typeface="Noto Sans"/>
              </a:rPr>
              <a:t>Ngọc</a:t>
            </a:r>
            <a:br>
              <a:rPr kumimoji="1" lang="en-US" altLang="vi-VN" sz="2000" dirty="0">
                <a:solidFill>
                  <a:schemeClr val="tx1">
                    <a:lumMod val="75000"/>
                    <a:lumOff val="25000"/>
                  </a:schemeClr>
                </a:solidFill>
                <a:latin typeface="Noto Sans"/>
                <a:ea typeface="Noto Sans"/>
              </a:rPr>
            </a:br>
            <a:r>
              <a:rPr kumimoji="1" lang="en-US" altLang="vi-VN" sz="2000" dirty="0">
                <a:solidFill>
                  <a:schemeClr val="tx1">
                    <a:lumMod val="75000"/>
                    <a:lumOff val="25000"/>
                  </a:schemeClr>
                </a:solidFill>
                <a:latin typeface="Noto Sans"/>
                <a:ea typeface="Noto Sans"/>
              </a:rPr>
              <a:t>MSSV: 110122123</a:t>
            </a:r>
          </a:p>
        </p:txBody>
      </p:sp>
      <p:sp>
        <p:nvSpPr>
          <p:cNvPr id="20" name="椭圆 19">
            <a:extLst>
              <a:ext uri="{FF2B5EF4-FFF2-40B4-BE49-F238E27FC236}">
                <a16:creationId xmlns:a16="http://schemas.microsoft.com/office/drawing/2014/main" id="{F160FCAE-E150-AA48-A4F3-19C90870FDE6}"/>
              </a:ext>
            </a:extLst>
          </p:cNvPr>
          <p:cNvSpPr/>
          <p:nvPr/>
        </p:nvSpPr>
        <p:spPr>
          <a:xfrm>
            <a:off x="8674432" y="225094"/>
            <a:ext cx="566407" cy="572595"/>
          </a:xfrm>
          <a:prstGeom prst="ellips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TextBox 4">
            <a:extLst>
              <a:ext uri="{FF2B5EF4-FFF2-40B4-BE49-F238E27FC236}">
                <a16:creationId xmlns:a16="http://schemas.microsoft.com/office/drawing/2014/main" id="{90DD2EA5-9EB7-EFB7-167F-983F298DD923}"/>
              </a:ext>
            </a:extLst>
          </p:cNvPr>
          <p:cNvSpPr txBox="1"/>
          <p:nvPr/>
        </p:nvSpPr>
        <p:spPr>
          <a:xfrm>
            <a:off x="4172594" y="212914"/>
            <a:ext cx="4058841" cy="584775"/>
          </a:xfrm>
          <a:prstGeom prst="rect">
            <a:avLst/>
          </a:prstGeom>
          <a:noFill/>
        </p:spPr>
        <p:txBody>
          <a:bodyPr wrap="square">
            <a:spAutoFit/>
          </a:bodyPr>
          <a:lstStyle/>
          <a:p>
            <a:pPr lvl="0" algn="ctr" eaLnBrk="0" fontAlgn="base" hangingPunct="0">
              <a:spcBef>
                <a:spcPct val="0"/>
              </a:spcBef>
              <a:spcAft>
                <a:spcPct val="0"/>
              </a:spcAft>
            </a:pPr>
            <a:r>
              <a:rPr lang="vi-VN" altLang="vi-VN" sz="1600" b="1" dirty="0">
                <a:solidFill>
                  <a:schemeClr val="bg1"/>
                </a:solidFill>
                <a:latin typeface="Montserrat ExtraBold" pitchFamily="2" charset="0"/>
              </a:rPr>
              <a:t>TRƯỜNG KỸ THUẬT VÀ CÔNG NGHỆ</a:t>
            </a:r>
            <a:endParaRPr lang="en-US" altLang="vi-VN" sz="1600" b="1" dirty="0">
              <a:solidFill>
                <a:schemeClr val="bg1"/>
              </a:solidFill>
              <a:latin typeface="Montserrat ExtraBold" pitchFamily="2" charset="0"/>
            </a:endParaRPr>
          </a:p>
          <a:p>
            <a:pPr lvl="0" algn="ctr" eaLnBrk="0" fontAlgn="base" hangingPunct="0">
              <a:spcBef>
                <a:spcPct val="0"/>
              </a:spcBef>
              <a:spcAft>
                <a:spcPct val="0"/>
              </a:spcAft>
            </a:pPr>
            <a:r>
              <a:rPr lang="en-US" altLang="vi-VN" sz="1600" b="1" dirty="0">
                <a:solidFill>
                  <a:schemeClr val="bg1"/>
                </a:solidFill>
                <a:latin typeface="Montserrat ExtraBold" pitchFamily="2" charset="0"/>
              </a:rPr>
              <a:t>KHOA CÔNG NGHỆ THÔNG TIN</a:t>
            </a:r>
            <a:endParaRPr lang="vi-VN" altLang="vi-VN" sz="1600" b="1" dirty="0">
              <a:solidFill>
                <a:schemeClr val="bg1"/>
              </a:solidFill>
              <a:latin typeface="Montserrat ExtraBold" pitchFamily="2" charset="0"/>
            </a:endParaRPr>
          </a:p>
        </p:txBody>
      </p:sp>
      <p:pic>
        <p:nvPicPr>
          <p:cNvPr id="9" name="Picture 8" descr="Thông báo - tvu.edu.vn">
            <a:extLst>
              <a:ext uri="{FF2B5EF4-FFF2-40B4-BE49-F238E27FC236}">
                <a16:creationId xmlns:a16="http://schemas.microsoft.com/office/drawing/2014/main" id="{6AD8AA15-B6C0-9149-40D8-4383E76CE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169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dissolve">
                                      <p:cBhvr>
                                        <p:cTn id="13" dur="500"/>
                                        <p:tgtEl>
                                          <p:spTgt spid="2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linds(horizontal)">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animBg="1"/>
      <p:bldP spid="25" grpId="0"/>
      <p:bldP spid="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直角三角形 6">
            <a:extLst>
              <a:ext uri="{FF2B5EF4-FFF2-40B4-BE49-F238E27FC236}">
                <a16:creationId xmlns:a16="http://schemas.microsoft.com/office/drawing/2014/main" id="{EB7A35A7-2346-0440-9547-3E6251129F6F}"/>
              </a:ext>
            </a:extLst>
          </p:cNvPr>
          <p:cNvSpPr/>
          <p:nvPr/>
        </p:nvSpPr>
        <p:spPr>
          <a:xfrm rot="5400000">
            <a:off x="-1" y="9939"/>
            <a:ext cx="2238471" cy="223847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直角三角形 7">
            <a:extLst>
              <a:ext uri="{FF2B5EF4-FFF2-40B4-BE49-F238E27FC236}">
                <a16:creationId xmlns:a16="http://schemas.microsoft.com/office/drawing/2014/main" id="{3239BBC9-8136-7843-8D7A-BC3DB28D5AC2}"/>
              </a:ext>
            </a:extLst>
          </p:cNvPr>
          <p:cNvSpPr/>
          <p:nvPr/>
        </p:nvSpPr>
        <p:spPr>
          <a:xfrm rot="16200000">
            <a:off x="10372593" y="5038591"/>
            <a:ext cx="1819406" cy="1819406"/>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3" name="图片 12">
            <a:extLst>
              <a:ext uri="{FF2B5EF4-FFF2-40B4-BE49-F238E27FC236}">
                <a16:creationId xmlns:a16="http://schemas.microsoft.com/office/drawing/2014/main" id="{EE22EC61-C0FA-F943-907E-10CF7A0CD42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69404" y="5789068"/>
            <a:ext cx="1951459" cy="1819405"/>
          </a:xfrm>
          <a:prstGeom prst="rect">
            <a:avLst/>
          </a:prstGeom>
        </p:spPr>
      </p:pic>
      <p:sp>
        <p:nvSpPr>
          <p:cNvPr id="4" name="Rectangle 3">
            <a:extLst>
              <a:ext uri="{FF2B5EF4-FFF2-40B4-BE49-F238E27FC236}">
                <a16:creationId xmlns:a16="http://schemas.microsoft.com/office/drawing/2014/main" id="{1D237132-F289-49F0-88E3-8E8E2DE7BD38}"/>
              </a:ext>
            </a:extLst>
          </p:cNvPr>
          <p:cNvSpPr txBox="1">
            <a:spLocks noChangeArrowheads="1"/>
          </p:cNvSpPr>
          <p:nvPr/>
        </p:nvSpPr>
        <p:spPr>
          <a:xfrm>
            <a:off x="1554688" y="1819410"/>
            <a:ext cx="9082624" cy="30873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vi-VN" altLang="zh-CN" sz="2000" dirty="0">
                <a:solidFill>
                  <a:schemeClr val="tx1">
                    <a:lumMod val="75000"/>
                    <a:lumOff val="25000"/>
                  </a:schemeClr>
                </a:solidFill>
                <a:latin typeface="思源宋体 Heavy" panose="02020900000000000000" pitchFamily="18" charset="-122"/>
                <a:ea typeface="思源宋体 Heavy" panose="02020900000000000000" pitchFamily="18" charset="-122"/>
              </a:rPr>
              <a:t>Đề tài tập trung nghiên cứu việc ứng dụng trí tuệ nhân tạo và học sâu để tự động phát hiện bất thường trên ảnh X-quang phổi, nhằm hỗ trợ bác sĩ trong quá trình chẩn đoán bệnh, đặc biệt là bệnh lao phổi.</a:t>
            </a:r>
            <a:endParaRPr lang="en-US" altLang="zh-CN" sz="2000" dirty="0">
              <a:solidFill>
                <a:schemeClr val="tx1">
                  <a:lumMod val="75000"/>
                  <a:lumOff val="25000"/>
                </a:schemeClr>
              </a:solidFill>
              <a:latin typeface="思源宋体 Heavy" panose="02020900000000000000" pitchFamily="18" charset="-122"/>
              <a:ea typeface="思源宋体 Heavy" panose="02020900000000000000" pitchFamily="18" charset="-122"/>
            </a:endParaRPr>
          </a:p>
          <a:p>
            <a:pPr>
              <a:lnSpc>
                <a:spcPct val="150000"/>
              </a:lnSpc>
            </a:pPr>
            <a:r>
              <a:rPr lang="vi-VN" altLang="zh-CN" sz="2000" dirty="0">
                <a:solidFill>
                  <a:schemeClr val="tx1">
                    <a:lumMod val="75000"/>
                    <a:lumOff val="25000"/>
                  </a:schemeClr>
                </a:solidFill>
                <a:latin typeface="思源宋体 Heavy" panose="02020900000000000000" pitchFamily="18" charset="-122"/>
                <a:ea typeface="思源宋体 Heavy" panose="02020900000000000000" pitchFamily="18" charset="-122"/>
              </a:rPr>
              <a:t>Thông qua việc xây dựng và so sánh mô hình VGG16 gốc và mô hình VGG16 cải tiến, đề tài hướng đến nâng cao độ chính xác, tính ổn định và khả năng ứng dụng thực tế của hệ thống hỗ trợ chẩn đoán y khoa.</a:t>
            </a:r>
            <a:endParaRPr lang="en-US" altLang="zh-CN" sz="2000" dirty="0">
              <a:solidFill>
                <a:schemeClr val="tx1">
                  <a:lumMod val="75000"/>
                  <a:lumOff val="25000"/>
                </a:schemeClr>
              </a:solidFill>
              <a:latin typeface="思源宋体 Heavy" panose="02020900000000000000" pitchFamily="18" charset="-122"/>
              <a:ea typeface="思源宋体 Heavy" panose="02020900000000000000" pitchFamily="18" charset="-122"/>
            </a:endParaRPr>
          </a:p>
        </p:txBody>
      </p:sp>
      <p:sp>
        <p:nvSpPr>
          <p:cNvPr id="2" name="文本框 1">
            <a:extLst>
              <a:ext uri="{FF2B5EF4-FFF2-40B4-BE49-F238E27FC236}">
                <a16:creationId xmlns:a16="http://schemas.microsoft.com/office/drawing/2014/main" id="{9C85EE3E-FA4A-C949-AD4A-1720EA3443A7}"/>
              </a:ext>
            </a:extLst>
          </p:cNvPr>
          <p:cNvSpPr txBox="1"/>
          <p:nvPr/>
        </p:nvSpPr>
        <p:spPr>
          <a:xfrm>
            <a:off x="3804016" y="563543"/>
            <a:ext cx="4583968" cy="677266"/>
          </a:xfrm>
          <a:prstGeom prst="rect">
            <a:avLst/>
          </a:prstGeom>
          <a:noFill/>
        </p:spPr>
        <p:txBody>
          <a:bodyPr wrap="none" rtlCol="0">
            <a:normAutofit/>
          </a:bodyPr>
          <a:lstStyle/>
          <a:p>
            <a:r>
              <a:rPr kumimoji="1" lang="en-US" altLang="vi-VN" sz="3800" b="1" dirty="0">
                <a:solidFill>
                  <a:schemeClr val="tx1">
                    <a:lumMod val="75000"/>
                    <a:lumOff val="25000"/>
                  </a:schemeClr>
                </a:solidFill>
                <a:latin typeface="Noto Sans"/>
                <a:ea typeface="Noto Sans"/>
              </a:rPr>
              <a:t>GIỚI THIỆU ĐỀ TÀI</a:t>
            </a:r>
            <a:endParaRPr kumimoji="1" lang="vi-VN" altLang="vi-VN" sz="3800" b="1" dirty="0">
              <a:solidFill>
                <a:schemeClr val="tx1">
                  <a:lumMod val="75000"/>
                  <a:lumOff val="25000"/>
                </a:schemeClr>
              </a:solidFill>
              <a:latin typeface="Noto Sans"/>
              <a:ea typeface="Noto Sans"/>
            </a:endParaRPr>
          </a:p>
        </p:txBody>
      </p:sp>
      <p:pic>
        <p:nvPicPr>
          <p:cNvPr id="5" name="Picture 4" descr="Thông báo - tvu.edu.vn">
            <a:extLst>
              <a:ext uri="{FF2B5EF4-FFF2-40B4-BE49-F238E27FC236}">
                <a16:creationId xmlns:a16="http://schemas.microsoft.com/office/drawing/2014/main" id="{783A4A86-0EDB-2AAF-6018-566CA5B06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直角三角形 13">
            <a:extLst>
              <a:ext uri="{FF2B5EF4-FFF2-40B4-BE49-F238E27FC236}">
                <a16:creationId xmlns:a16="http://schemas.microsoft.com/office/drawing/2014/main" id="{F1DF11DC-3C5F-6D42-BEA9-5FE91E193E7F}"/>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 name="直线连接符 14">
            <a:extLst>
              <a:ext uri="{FF2B5EF4-FFF2-40B4-BE49-F238E27FC236}">
                <a16:creationId xmlns:a16="http://schemas.microsoft.com/office/drawing/2014/main" id="{3FC7BB9C-58CC-E548-9B5A-493711EEFC4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E9B95C7-C7CF-5A47-A007-7338F3BFCA2C}"/>
              </a:ext>
            </a:extLst>
          </p:cNvPr>
          <p:cNvSpPr txBox="1"/>
          <p:nvPr/>
        </p:nvSpPr>
        <p:spPr>
          <a:xfrm>
            <a:off x="4446235" y="1031290"/>
            <a:ext cx="4188337" cy="446380"/>
          </a:xfrm>
          <a:prstGeom prst="rect">
            <a:avLst/>
          </a:prstGeom>
          <a:noFill/>
        </p:spPr>
        <p:txBody>
          <a:bodyPr wrap="none" rtlCol="0">
            <a:normAutofit/>
          </a:bodyPr>
          <a:lstStyle/>
          <a:p>
            <a:r>
              <a:rPr kumimoji="1" lang="en-US" altLang="vi-VN" sz="2300" b="1" dirty="0">
                <a:solidFill>
                  <a:schemeClr val="tx1">
                    <a:lumMod val="75000"/>
                    <a:lumOff val="25000"/>
                  </a:schemeClr>
                </a:solidFill>
                <a:latin typeface="Noto Sans"/>
                <a:ea typeface="Noto Sans"/>
              </a:rPr>
              <a:t>Lý do &amp; </a:t>
            </a:r>
            <a:r>
              <a:rPr kumimoji="1" lang="en-US" altLang="vi-VN" sz="2300" b="1" dirty="0" err="1">
                <a:solidFill>
                  <a:schemeClr val="tx1">
                    <a:lumMod val="75000"/>
                    <a:lumOff val="25000"/>
                  </a:schemeClr>
                </a:solidFill>
                <a:latin typeface="Noto Sans"/>
                <a:ea typeface="Noto Sans"/>
              </a:rPr>
              <a:t>mục</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tiêu</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nghiên</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cứu</a:t>
            </a:r>
            <a:endParaRPr kumimoji="1" lang="vi-VN" altLang="vi-VN" sz="2300" b="1" dirty="0">
              <a:solidFill>
                <a:schemeClr val="tx1">
                  <a:lumMod val="75000"/>
                  <a:lumOff val="25000"/>
                </a:schemeClr>
              </a:solidFill>
              <a:latin typeface="Noto Sans"/>
              <a:ea typeface="Noto Sans"/>
            </a:endParaRPr>
          </a:p>
        </p:txBody>
      </p:sp>
      <p:sp>
        <p:nvSpPr>
          <p:cNvPr id="19" name="文本框 18">
            <a:extLst>
              <a:ext uri="{FF2B5EF4-FFF2-40B4-BE49-F238E27FC236}">
                <a16:creationId xmlns:a16="http://schemas.microsoft.com/office/drawing/2014/main" id="{9CEFA434-B2F5-BF4B-87C2-49EC0B60D7E8}"/>
              </a:ext>
            </a:extLst>
          </p:cNvPr>
          <p:cNvSpPr txBox="1"/>
          <p:nvPr/>
        </p:nvSpPr>
        <p:spPr>
          <a:xfrm>
            <a:off x="4446235" y="1917756"/>
            <a:ext cx="3033906" cy="477164"/>
          </a:xfrm>
          <a:prstGeom prst="rect">
            <a:avLst/>
          </a:prstGeom>
          <a:noFill/>
        </p:spPr>
        <p:txBody>
          <a:bodyPr wrap="none" rtlCol="0">
            <a:normAutofit/>
          </a:bodyPr>
          <a:lstStyle/>
          <a:p>
            <a:r>
              <a:rPr kumimoji="1" lang="en-US" altLang="vi-VN" sz="2300" b="1" dirty="0" err="1">
                <a:solidFill>
                  <a:schemeClr val="tx1">
                    <a:lumMod val="75000"/>
                    <a:lumOff val="25000"/>
                  </a:schemeClr>
                </a:solidFill>
                <a:latin typeface="Noto Sans"/>
                <a:ea typeface="Noto Sans"/>
              </a:rPr>
              <a:t>Cơ</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sở</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lý</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thuyết</a:t>
            </a:r>
            <a:r>
              <a:rPr kumimoji="1" lang="en-US" altLang="vi-VN" sz="2300" b="1" dirty="0">
                <a:solidFill>
                  <a:schemeClr val="tx1">
                    <a:lumMod val="75000"/>
                    <a:lumOff val="25000"/>
                  </a:schemeClr>
                </a:solidFill>
                <a:latin typeface="Noto Sans"/>
                <a:ea typeface="Noto Sans"/>
              </a:rPr>
              <a:t> </a:t>
            </a:r>
            <a:endParaRPr kumimoji="1" lang="vi-VN" altLang="vi-VN" sz="2300" b="1" dirty="0">
              <a:solidFill>
                <a:schemeClr val="tx1">
                  <a:lumMod val="75000"/>
                  <a:lumOff val="25000"/>
                </a:schemeClr>
              </a:solidFill>
              <a:latin typeface="Noto Sans"/>
              <a:ea typeface="Noto Sans"/>
            </a:endParaRPr>
          </a:p>
        </p:txBody>
      </p:sp>
      <p:sp>
        <p:nvSpPr>
          <p:cNvPr id="20" name="文本框 19">
            <a:extLst>
              <a:ext uri="{FF2B5EF4-FFF2-40B4-BE49-F238E27FC236}">
                <a16:creationId xmlns:a16="http://schemas.microsoft.com/office/drawing/2014/main" id="{236C2975-4CA9-F040-9BAE-DF7D29C04346}"/>
              </a:ext>
            </a:extLst>
          </p:cNvPr>
          <p:cNvSpPr txBox="1"/>
          <p:nvPr/>
        </p:nvSpPr>
        <p:spPr>
          <a:xfrm>
            <a:off x="4446235" y="2837912"/>
            <a:ext cx="4469440" cy="446380"/>
          </a:xfrm>
          <a:prstGeom prst="rect">
            <a:avLst/>
          </a:prstGeom>
          <a:noFill/>
        </p:spPr>
        <p:txBody>
          <a:bodyPr wrap="none" rtlCol="0">
            <a:normAutofit/>
          </a:bodyPr>
          <a:lstStyle/>
          <a:p>
            <a:r>
              <a:rPr kumimoji="1" lang="en-US" altLang="vi-VN" sz="2300" b="1" dirty="0" err="1">
                <a:solidFill>
                  <a:schemeClr val="tx1">
                    <a:lumMod val="75000"/>
                    <a:lumOff val="25000"/>
                  </a:schemeClr>
                </a:solidFill>
                <a:latin typeface="Noto Sans"/>
                <a:ea typeface="Noto Sans"/>
              </a:rPr>
              <a:t>Phương</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pháp</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nghiên</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cứu</a:t>
            </a:r>
            <a:endParaRPr kumimoji="1" lang="vi-VN" altLang="vi-VN" sz="2300" b="1" dirty="0">
              <a:solidFill>
                <a:schemeClr val="tx1">
                  <a:lumMod val="75000"/>
                  <a:lumOff val="25000"/>
                </a:schemeClr>
              </a:solidFill>
              <a:latin typeface="Noto Sans"/>
              <a:ea typeface="Noto Sans"/>
            </a:endParaRPr>
          </a:p>
        </p:txBody>
      </p:sp>
      <p:sp>
        <p:nvSpPr>
          <p:cNvPr id="22" name="圆角矩形 21">
            <a:extLst>
              <a:ext uri="{FF2B5EF4-FFF2-40B4-BE49-F238E27FC236}">
                <a16:creationId xmlns:a16="http://schemas.microsoft.com/office/drawing/2014/main" id="{E6445AD5-CEAB-0545-8036-3F58ECEABFAB}"/>
              </a:ext>
            </a:extLst>
          </p:cNvPr>
          <p:cNvSpPr/>
          <p:nvPr/>
        </p:nvSpPr>
        <p:spPr>
          <a:xfrm>
            <a:off x="3637722" y="902176"/>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8C298BDD-A233-8446-B698-1E5A87A63AD5}"/>
              </a:ext>
            </a:extLst>
          </p:cNvPr>
          <p:cNvSpPr txBox="1"/>
          <p:nvPr/>
        </p:nvSpPr>
        <p:spPr>
          <a:xfrm>
            <a:off x="3726235" y="1031290"/>
            <a:ext cx="540000"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01</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25" name="圆角矩形 24">
            <a:extLst>
              <a:ext uri="{FF2B5EF4-FFF2-40B4-BE49-F238E27FC236}">
                <a16:creationId xmlns:a16="http://schemas.microsoft.com/office/drawing/2014/main" id="{2E579DAF-3060-1A4B-8700-B6A621728814}"/>
              </a:ext>
            </a:extLst>
          </p:cNvPr>
          <p:cNvSpPr/>
          <p:nvPr/>
        </p:nvSpPr>
        <p:spPr>
          <a:xfrm>
            <a:off x="3640904" y="1788642"/>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A8E24AAF-C0A2-604E-B97C-9B81782883AD}"/>
              </a:ext>
            </a:extLst>
          </p:cNvPr>
          <p:cNvSpPr txBox="1"/>
          <p:nvPr/>
        </p:nvSpPr>
        <p:spPr>
          <a:xfrm>
            <a:off x="3726235" y="1917756"/>
            <a:ext cx="540661"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2</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28" name="圆角矩形 27">
            <a:extLst>
              <a:ext uri="{FF2B5EF4-FFF2-40B4-BE49-F238E27FC236}">
                <a16:creationId xmlns:a16="http://schemas.microsoft.com/office/drawing/2014/main" id="{37511590-1902-FD46-BAA7-D577758D26A9}"/>
              </a:ext>
            </a:extLst>
          </p:cNvPr>
          <p:cNvSpPr/>
          <p:nvPr/>
        </p:nvSpPr>
        <p:spPr>
          <a:xfrm>
            <a:off x="3637722" y="2675108"/>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文本框 28">
            <a:extLst>
              <a:ext uri="{FF2B5EF4-FFF2-40B4-BE49-F238E27FC236}">
                <a16:creationId xmlns:a16="http://schemas.microsoft.com/office/drawing/2014/main" id="{5CBF081F-7FFC-1D47-B194-99146C610CF2}"/>
              </a:ext>
            </a:extLst>
          </p:cNvPr>
          <p:cNvSpPr txBox="1"/>
          <p:nvPr/>
        </p:nvSpPr>
        <p:spPr>
          <a:xfrm>
            <a:off x="3731938" y="2804708"/>
            <a:ext cx="540000" cy="460800"/>
          </a:xfrm>
          <a:prstGeom prst="rect">
            <a:avLst/>
          </a:prstGeom>
          <a:noFill/>
        </p:spPr>
        <p:txBody>
          <a:bodyPr wrap="none" rtlCol="0">
            <a:noAutofit/>
          </a:bodyPr>
          <a:lstStyle/>
          <a:p>
            <a:r>
              <a:rPr kumimoji="1" lang="vi-VN" altLang="vi-VN" sz="2400" b="1" dirty="0">
                <a:solidFill>
                  <a:schemeClr val="bg1"/>
                </a:solidFill>
                <a:latin typeface="Noto Sans"/>
                <a:ea typeface="Noto Sans"/>
              </a:rPr>
              <a:t>03</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32" name="直角三角形 31">
            <a:extLst>
              <a:ext uri="{FF2B5EF4-FFF2-40B4-BE49-F238E27FC236}">
                <a16:creationId xmlns:a16="http://schemas.microsoft.com/office/drawing/2014/main" id="{82AD1AF4-D36F-204F-AC25-1B834128DCA5}"/>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a:extLst>
              <a:ext uri="{FF2B5EF4-FFF2-40B4-BE49-F238E27FC236}">
                <a16:creationId xmlns:a16="http://schemas.microsoft.com/office/drawing/2014/main" id="{21358DF4-A10B-6240-B2C3-F63C3B75129B}"/>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2" name="Picture 1" descr="Thông báo - tvu.edu.vn">
            <a:extLst>
              <a:ext uri="{FF2B5EF4-FFF2-40B4-BE49-F238E27FC236}">
                <a16:creationId xmlns:a16="http://schemas.microsoft.com/office/drawing/2014/main" id="{446D016D-9677-6BD0-B221-C558AA56E8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2">
            <a:extLst>
              <a:ext uri="{FF2B5EF4-FFF2-40B4-BE49-F238E27FC236}">
                <a16:creationId xmlns:a16="http://schemas.microsoft.com/office/drawing/2014/main" id="{D993B874-BA32-BC83-0ABB-0A0EB4CB56B2}"/>
              </a:ext>
            </a:extLst>
          </p:cNvPr>
          <p:cNvSpPr txBox="1"/>
          <p:nvPr/>
        </p:nvSpPr>
        <p:spPr>
          <a:xfrm>
            <a:off x="4446235" y="3708500"/>
            <a:ext cx="4188337" cy="446380"/>
          </a:xfrm>
          <a:prstGeom prst="rect">
            <a:avLst/>
          </a:prstGeom>
          <a:noFill/>
        </p:spPr>
        <p:txBody>
          <a:bodyPr wrap="none" rtlCol="0">
            <a:normAutofit/>
          </a:bodyPr>
          <a:lstStyle/>
          <a:p>
            <a:r>
              <a:rPr kumimoji="1" lang="en-US" altLang="vi-VN" sz="2300" b="1" dirty="0" err="1">
                <a:solidFill>
                  <a:schemeClr val="tx1">
                    <a:lumMod val="75000"/>
                    <a:lumOff val="25000"/>
                  </a:schemeClr>
                </a:solidFill>
                <a:latin typeface="Noto Sans"/>
                <a:ea typeface="Noto Sans"/>
              </a:rPr>
              <a:t>Xây</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dựng</a:t>
            </a:r>
            <a:r>
              <a:rPr kumimoji="1" lang="en-US" altLang="vi-VN" sz="2300" b="1" dirty="0">
                <a:solidFill>
                  <a:schemeClr val="tx1">
                    <a:lumMod val="75000"/>
                    <a:lumOff val="25000"/>
                  </a:schemeClr>
                </a:solidFill>
                <a:latin typeface="Noto Sans"/>
                <a:ea typeface="Noto Sans"/>
              </a:rPr>
              <a:t> &amp; </a:t>
            </a:r>
            <a:r>
              <a:rPr kumimoji="1" lang="en-US" altLang="vi-VN" sz="2300" b="1" dirty="0" err="1">
                <a:solidFill>
                  <a:schemeClr val="tx1">
                    <a:lumMod val="75000"/>
                    <a:lumOff val="25000"/>
                  </a:schemeClr>
                </a:solidFill>
                <a:latin typeface="Noto Sans"/>
                <a:ea typeface="Noto Sans"/>
              </a:rPr>
              <a:t>đánh</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giá</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mô</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hình</a:t>
            </a:r>
            <a:endParaRPr kumimoji="1" lang="vi-VN" altLang="vi-VN" sz="2300" b="1" dirty="0">
              <a:solidFill>
                <a:schemeClr val="tx1">
                  <a:lumMod val="75000"/>
                  <a:lumOff val="25000"/>
                </a:schemeClr>
              </a:solidFill>
              <a:latin typeface="Noto Sans"/>
              <a:ea typeface="Noto Sans"/>
            </a:endParaRPr>
          </a:p>
        </p:txBody>
      </p:sp>
      <p:sp>
        <p:nvSpPr>
          <p:cNvPr id="7" name="文本框 18">
            <a:extLst>
              <a:ext uri="{FF2B5EF4-FFF2-40B4-BE49-F238E27FC236}">
                <a16:creationId xmlns:a16="http://schemas.microsoft.com/office/drawing/2014/main" id="{ABED42B9-AB8C-FF2E-0C0A-1743C8277079}"/>
              </a:ext>
            </a:extLst>
          </p:cNvPr>
          <p:cNvSpPr txBox="1"/>
          <p:nvPr/>
        </p:nvSpPr>
        <p:spPr>
          <a:xfrm>
            <a:off x="4446235" y="4594966"/>
            <a:ext cx="3033906" cy="477164"/>
          </a:xfrm>
          <a:prstGeom prst="rect">
            <a:avLst/>
          </a:prstGeom>
          <a:noFill/>
        </p:spPr>
        <p:txBody>
          <a:bodyPr wrap="none" rtlCol="0">
            <a:normAutofit/>
          </a:bodyPr>
          <a:lstStyle/>
          <a:p>
            <a:r>
              <a:rPr kumimoji="1" lang="en-US" altLang="vi-VN" sz="2300" b="1" dirty="0" err="1">
                <a:solidFill>
                  <a:schemeClr val="tx1">
                    <a:lumMod val="75000"/>
                    <a:lumOff val="25000"/>
                  </a:schemeClr>
                </a:solidFill>
                <a:latin typeface="Noto Sans"/>
                <a:ea typeface="Noto Sans"/>
              </a:rPr>
              <a:t>Kết</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quả</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thực</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nghiệm</a:t>
            </a:r>
            <a:endParaRPr kumimoji="1" lang="vi-VN" altLang="vi-VN" sz="2300" b="1" dirty="0">
              <a:solidFill>
                <a:schemeClr val="tx1">
                  <a:lumMod val="75000"/>
                  <a:lumOff val="25000"/>
                </a:schemeClr>
              </a:solidFill>
              <a:latin typeface="Noto Sans"/>
              <a:ea typeface="Noto Sans"/>
            </a:endParaRPr>
          </a:p>
        </p:txBody>
      </p:sp>
      <p:sp>
        <p:nvSpPr>
          <p:cNvPr id="8" name="文本框 19">
            <a:extLst>
              <a:ext uri="{FF2B5EF4-FFF2-40B4-BE49-F238E27FC236}">
                <a16:creationId xmlns:a16="http://schemas.microsoft.com/office/drawing/2014/main" id="{C17DC520-932F-8EC5-3178-0AA2824A864B}"/>
              </a:ext>
            </a:extLst>
          </p:cNvPr>
          <p:cNvSpPr txBox="1"/>
          <p:nvPr/>
        </p:nvSpPr>
        <p:spPr>
          <a:xfrm>
            <a:off x="4446235" y="5515122"/>
            <a:ext cx="4469440" cy="446380"/>
          </a:xfrm>
          <a:prstGeom prst="rect">
            <a:avLst/>
          </a:prstGeom>
          <a:noFill/>
        </p:spPr>
        <p:txBody>
          <a:bodyPr wrap="none" rtlCol="0">
            <a:normAutofit/>
          </a:bodyPr>
          <a:lstStyle/>
          <a:p>
            <a:r>
              <a:rPr kumimoji="1" lang="en-US" altLang="vi-VN" sz="2300" b="1" dirty="0" err="1">
                <a:solidFill>
                  <a:schemeClr val="tx1">
                    <a:lumMod val="75000"/>
                    <a:lumOff val="25000"/>
                  </a:schemeClr>
                </a:solidFill>
                <a:latin typeface="Noto Sans"/>
                <a:ea typeface="Noto Sans"/>
              </a:rPr>
              <a:t>Kết</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luận</a:t>
            </a:r>
            <a:r>
              <a:rPr kumimoji="1" lang="en-US" altLang="vi-VN" sz="2300" b="1" dirty="0">
                <a:solidFill>
                  <a:schemeClr val="tx1">
                    <a:lumMod val="75000"/>
                    <a:lumOff val="25000"/>
                  </a:schemeClr>
                </a:solidFill>
                <a:latin typeface="Noto Sans"/>
                <a:ea typeface="Noto Sans"/>
              </a:rPr>
              <a:t> &amp; </a:t>
            </a:r>
            <a:r>
              <a:rPr kumimoji="1" lang="en-US" altLang="vi-VN" sz="2300" b="1" dirty="0" err="1">
                <a:solidFill>
                  <a:schemeClr val="tx1">
                    <a:lumMod val="75000"/>
                    <a:lumOff val="25000"/>
                  </a:schemeClr>
                </a:solidFill>
                <a:latin typeface="Noto Sans"/>
                <a:ea typeface="Noto Sans"/>
              </a:rPr>
              <a:t>hướng</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phát</a:t>
            </a:r>
            <a:r>
              <a:rPr kumimoji="1" lang="en-US" altLang="vi-VN" sz="2300" b="1" dirty="0">
                <a:solidFill>
                  <a:schemeClr val="tx1">
                    <a:lumMod val="75000"/>
                    <a:lumOff val="25000"/>
                  </a:schemeClr>
                </a:solidFill>
                <a:latin typeface="Noto Sans"/>
                <a:ea typeface="Noto Sans"/>
              </a:rPr>
              <a:t> </a:t>
            </a:r>
            <a:r>
              <a:rPr kumimoji="1" lang="en-US" altLang="vi-VN" sz="2300" b="1" dirty="0" err="1">
                <a:solidFill>
                  <a:schemeClr val="tx1">
                    <a:lumMod val="75000"/>
                    <a:lumOff val="25000"/>
                  </a:schemeClr>
                </a:solidFill>
                <a:latin typeface="Noto Sans"/>
                <a:ea typeface="Noto Sans"/>
              </a:rPr>
              <a:t>triển</a:t>
            </a:r>
            <a:endParaRPr kumimoji="1" lang="vi-VN" altLang="vi-VN" sz="2300" b="1" dirty="0">
              <a:solidFill>
                <a:schemeClr val="tx1">
                  <a:lumMod val="75000"/>
                  <a:lumOff val="25000"/>
                </a:schemeClr>
              </a:solidFill>
              <a:latin typeface="Noto Sans"/>
              <a:ea typeface="Noto Sans"/>
            </a:endParaRPr>
          </a:p>
        </p:txBody>
      </p:sp>
      <p:sp>
        <p:nvSpPr>
          <p:cNvPr id="9" name="圆角矩形 21">
            <a:extLst>
              <a:ext uri="{FF2B5EF4-FFF2-40B4-BE49-F238E27FC236}">
                <a16:creationId xmlns:a16="http://schemas.microsoft.com/office/drawing/2014/main" id="{C55FAC42-DE42-8EA1-5F36-E53737D2A972}"/>
              </a:ext>
            </a:extLst>
          </p:cNvPr>
          <p:cNvSpPr/>
          <p:nvPr/>
        </p:nvSpPr>
        <p:spPr>
          <a:xfrm>
            <a:off x="3637722" y="3579386"/>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3">
            <a:extLst>
              <a:ext uri="{FF2B5EF4-FFF2-40B4-BE49-F238E27FC236}">
                <a16:creationId xmlns:a16="http://schemas.microsoft.com/office/drawing/2014/main" id="{B6951DBB-506B-5D2B-A618-EE3D389491D3}"/>
              </a:ext>
            </a:extLst>
          </p:cNvPr>
          <p:cNvSpPr txBox="1"/>
          <p:nvPr/>
        </p:nvSpPr>
        <p:spPr>
          <a:xfrm>
            <a:off x="3726235" y="3708500"/>
            <a:ext cx="540000"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4</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11" name="圆角矩形 24">
            <a:extLst>
              <a:ext uri="{FF2B5EF4-FFF2-40B4-BE49-F238E27FC236}">
                <a16:creationId xmlns:a16="http://schemas.microsoft.com/office/drawing/2014/main" id="{EDE25C0E-7F03-5D6B-CFC5-0B8324731BAF}"/>
              </a:ext>
            </a:extLst>
          </p:cNvPr>
          <p:cNvSpPr/>
          <p:nvPr/>
        </p:nvSpPr>
        <p:spPr>
          <a:xfrm>
            <a:off x="3640904" y="4465852"/>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25">
            <a:extLst>
              <a:ext uri="{FF2B5EF4-FFF2-40B4-BE49-F238E27FC236}">
                <a16:creationId xmlns:a16="http://schemas.microsoft.com/office/drawing/2014/main" id="{CAFE59BC-A7B6-40AC-4861-D2CF319F73DE}"/>
              </a:ext>
            </a:extLst>
          </p:cNvPr>
          <p:cNvSpPr txBox="1"/>
          <p:nvPr/>
        </p:nvSpPr>
        <p:spPr>
          <a:xfrm>
            <a:off x="3726235" y="4594966"/>
            <a:ext cx="540661"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5</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13" name="圆角矩形 27">
            <a:extLst>
              <a:ext uri="{FF2B5EF4-FFF2-40B4-BE49-F238E27FC236}">
                <a16:creationId xmlns:a16="http://schemas.microsoft.com/office/drawing/2014/main" id="{B9D34566-8180-4C2F-0FFF-B9E8FE5CFDBD}"/>
              </a:ext>
            </a:extLst>
          </p:cNvPr>
          <p:cNvSpPr/>
          <p:nvPr/>
        </p:nvSpPr>
        <p:spPr>
          <a:xfrm>
            <a:off x="3637722" y="5352318"/>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28">
            <a:extLst>
              <a:ext uri="{FF2B5EF4-FFF2-40B4-BE49-F238E27FC236}">
                <a16:creationId xmlns:a16="http://schemas.microsoft.com/office/drawing/2014/main" id="{68DC88D1-9B0E-EFFF-5B51-36BA7A1C405D}"/>
              </a:ext>
            </a:extLst>
          </p:cNvPr>
          <p:cNvSpPr txBox="1"/>
          <p:nvPr/>
        </p:nvSpPr>
        <p:spPr>
          <a:xfrm>
            <a:off x="3731938" y="5481918"/>
            <a:ext cx="540000" cy="460800"/>
          </a:xfrm>
          <a:prstGeom prst="rect">
            <a:avLst/>
          </a:prstGeom>
          <a:noFill/>
        </p:spPr>
        <p:txBody>
          <a:bodyPr wrap="none" rtlCol="0">
            <a:no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6</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sp>
        <p:nvSpPr>
          <p:cNvPr id="17" name="文本框 1">
            <a:extLst>
              <a:ext uri="{FF2B5EF4-FFF2-40B4-BE49-F238E27FC236}">
                <a16:creationId xmlns:a16="http://schemas.microsoft.com/office/drawing/2014/main" id="{2F67979E-A672-EA15-6139-250A4FDFF2CC}"/>
              </a:ext>
            </a:extLst>
          </p:cNvPr>
          <p:cNvSpPr txBox="1"/>
          <p:nvPr/>
        </p:nvSpPr>
        <p:spPr>
          <a:xfrm>
            <a:off x="4950008" y="117424"/>
            <a:ext cx="2291984" cy="677266"/>
          </a:xfrm>
          <a:prstGeom prst="rect">
            <a:avLst/>
          </a:prstGeom>
          <a:noFill/>
        </p:spPr>
        <p:txBody>
          <a:bodyPr wrap="none" rtlCol="0">
            <a:normAutofit/>
          </a:bodyPr>
          <a:lstStyle/>
          <a:p>
            <a:r>
              <a:rPr kumimoji="1" lang="en-US" altLang="vi-VN" sz="3800" b="1" dirty="0">
                <a:solidFill>
                  <a:schemeClr val="tx1">
                    <a:lumMod val="75000"/>
                    <a:lumOff val="25000"/>
                  </a:schemeClr>
                </a:solidFill>
                <a:latin typeface="Noto Sans"/>
                <a:ea typeface="Noto Sans"/>
              </a:rPr>
              <a:t>MỤC LỤC</a:t>
            </a:r>
            <a:endParaRPr kumimoji="1" lang="vi-VN" altLang="vi-VN" sz="3800" b="1" dirty="0">
              <a:solidFill>
                <a:schemeClr val="tx1">
                  <a:lumMod val="75000"/>
                  <a:lumOff val="25000"/>
                </a:schemeClr>
              </a:solidFill>
              <a:latin typeface="Noto Sans"/>
              <a:ea typeface="Noto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dissolve">
                                      <p:cBhvr>
                                        <p:cTn id="15" dur="500"/>
                                        <p:tgtEl>
                                          <p:spTgt spid="19"/>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dissolve">
                                      <p:cBhvr>
                                        <p:cTn id="18" dur="500"/>
                                        <p:tgtEl>
                                          <p:spTgt spid="20"/>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dissolve">
                                      <p:cBhvr>
                                        <p:cTn id="24" dur="500"/>
                                        <p:tgtEl>
                                          <p:spTgt spid="4"/>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dissolve">
                                      <p:cBhvr>
                                        <p:cTn id="30" dur="500"/>
                                        <p:tgtEl>
                                          <p:spTgt spid="26"/>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dissolve">
                                      <p:cBhvr>
                                        <p:cTn id="33" dur="500"/>
                                        <p:tgtEl>
                                          <p:spTgt spid="2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dissolve">
                                      <p:cBhvr>
                                        <p:cTn id="42" dur="500"/>
                                        <p:tgtEl>
                                          <p:spTgt spid="7"/>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dissolve">
                                      <p:cBhvr>
                                        <p:cTn id="45" dur="500"/>
                                        <p:tgtEl>
                                          <p:spTgt spid="8"/>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dissolve">
                                      <p:cBhvr>
                                        <p:cTn id="48" dur="500"/>
                                        <p:tgtEl>
                                          <p:spTgt spid="9"/>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dissolve">
                                      <p:cBhvr>
                                        <p:cTn id="51" dur="500"/>
                                        <p:tgtEl>
                                          <p:spTgt spid="10"/>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dissolve">
                                      <p:cBhvr>
                                        <p:cTn id="54" dur="500"/>
                                        <p:tgtEl>
                                          <p:spTgt spid="11"/>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dissolve">
                                      <p:cBhvr>
                                        <p:cTn id="57" dur="500"/>
                                        <p:tgtEl>
                                          <p:spTgt spid="12"/>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dissolve">
                                      <p:cBhvr>
                                        <p:cTn id="60" dur="500"/>
                                        <p:tgtEl>
                                          <p:spTgt spid="13"/>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dissolv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p:bldP spid="20" grpId="0"/>
      <p:bldP spid="22" grpId="0" animBg="1"/>
      <p:bldP spid="4" grpId="0"/>
      <p:bldP spid="25" grpId="0" animBg="1"/>
      <p:bldP spid="26" grpId="0"/>
      <p:bldP spid="28" grpId="0" animBg="1"/>
      <p:bldP spid="29" grpId="0"/>
      <p:bldP spid="6" grpId="0"/>
      <p:bldP spid="7" grpId="0"/>
      <p:bldP spid="8" grpId="0"/>
      <p:bldP spid="9" grpId="0" animBg="1"/>
      <p:bldP spid="10" grpId="0"/>
      <p:bldP spid="11" grpId="0" animBg="1"/>
      <p:bldP spid="12" grpId="0"/>
      <p:bldP spid="13" grpId="0" animBg="1"/>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fontScale="62500" lnSpcReduction="20000"/>
          </a:bodyPr>
          <a:lstStyle/>
          <a:p>
            <a:pPr algn="dist"/>
            <a:r>
              <a:rPr kumimoji="1" lang="en-US" altLang="vi-VN" sz="5400" b="1" dirty="0">
                <a:solidFill>
                  <a:schemeClr val="tx1">
                    <a:lumMod val="75000"/>
                    <a:lumOff val="25000"/>
                  </a:schemeClr>
                </a:solidFill>
                <a:latin typeface="Noto Sans"/>
                <a:ea typeface="Noto Sans"/>
              </a:rPr>
              <a:t>LÝ DO &amp; MỤC TIÊU NGHIÊN CỨU</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1</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231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15511854-7B99-4D64-B773-08EA7E309E6D}"/>
              </a:ext>
            </a:extLst>
          </p:cNvPr>
          <p:cNvSpPr txBox="1"/>
          <p:nvPr/>
        </p:nvSpPr>
        <p:spPr>
          <a:xfrm>
            <a:off x="756188" y="1096696"/>
            <a:ext cx="10679624" cy="4664607"/>
          </a:xfrm>
          <a:prstGeom prst="rect">
            <a:avLst/>
          </a:prstGeom>
          <a:noFill/>
        </p:spPr>
        <p:txBody>
          <a:bodyPr wrap="square">
            <a:noAutofit/>
          </a:bodyPr>
          <a:lstStyle/>
          <a:p>
            <a:pPr>
              <a:lnSpc>
                <a:spcPct val="150000"/>
              </a:lnSpc>
            </a:pPr>
            <a:r>
              <a:rPr lang="vi-VN" altLang="vi-VN" sz="2800" dirty="0">
                <a:latin typeface="Noto Sans" panose="020B0502040504020204" pitchFamily="34" charset="0"/>
                <a:ea typeface="Noto Sans" panose="020B0502040504020204" pitchFamily="34" charset="0"/>
                <a:cs typeface="Noto Sans" panose="020B0502040504020204" pitchFamily="34" charset="0"/>
              </a:rPr>
              <a:t>Việc ứng dụng trí tuệ nhân tạo, đặc biệt là học sâu vào lĩnh vực y tế đã mang lại nhiều kết quả tốt, nhất là trong việc hỗ trợ bác sĩ phát hiện bệnh qua hình ảnh. Trong đó, ảnh X-quang được sử dụng rất phổ biến, nhưng việc đọc và đánh giá ảnh còn phụ thuộc nhiều vào kinh nghiệm </a:t>
            </a:r>
            <a:r>
              <a:rPr lang="en-US" altLang="vi-VN" sz="2800" dirty="0" err="1">
                <a:latin typeface="Noto Sans" panose="020B0502040504020204" pitchFamily="34" charset="0"/>
                <a:ea typeface="Noto Sans" panose="020B0502040504020204" pitchFamily="34" charset="0"/>
                <a:cs typeface="Noto Sans" panose="020B0502040504020204" pitchFamily="34" charset="0"/>
              </a:rPr>
              <a:t>bác</a:t>
            </a:r>
            <a:r>
              <a:rPr lang="en-US" altLang="vi-VN" sz="2800" dirty="0">
                <a:latin typeface="Noto Sans" panose="020B0502040504020204" pitchFamily="34" charset="0"/>
                <a:ea typeface="Noto Sans" panose="020B0502040504020204" pitchFamily="34" charset="0"/>
                <a:cs typeface="Noto Sans" panose="020B0502040504020204" pitchFamily="34" charset="0"/>
              </a:rPr>
              <a:t> </a:t>
            </a:r>
            <a:r>
              <a:rPr lang="en-US" altLang="vi-VN" sz="2800" dirty="0" err="1">
                <a:latin typeface="Noto Sans" panose="020B0502040504020204" pitchFamily="34" charset="0"/>
                <a:ea typeface="Noto Sans" panose="020B0502040504020204" pitchFamily="34" charset="0"/>
                <a:cs typeface="Noto Sans" panose="020B0502040504020204" pitchFamily="34" charset="0"/>
              </a:rPr>
              <a:t>sĩ</a:t>
            </a:r>
            <a:r>
              <a:rPr lang="vi-VN" altLang="vi-VN" sz="2800" dirty="0">
                <a:latin typeface="Noto Sans" panose="020B0502040504020204" pitchFamily="34" charset="0"/>
                <a:ea typeface="Noto Sans" panose="020B0502040504020204" pitchFamily="34" charset="0"/>
                <a:cs typeface="Noto Sans" panose="020B0502040504020204" pitchFamily="34" charset="0"/>
              </a:rPr>
              <a:t>, dễ xảy ra sai sót khi số lượng bệnh nhân lớn, vì vậy cần có một hệ thống hỗ trợ tự động để giúp quá trình chẩn đoán nhanh và chính xác hơn.</a:t>
            </a:r>
          </a:p>
        </p:txBody>
      </p:sp>
      <p:sp>
        <p:nvSpPr>
          <p:cNvPr id="20" name="文本框 19">
            <a:extLst>
              <a:ext uri="{FF2B5EF4-FFF2-40B4-BE49-F238E27FC236}">
                <a16:creationId xmlns:a16="http://schemas.microsoft.com/office/drawing/2014/main" id="{34D3F9F1-55EC-7D46-BC61-C55753C282AA}"/>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a:solidFill>
                  <a:srgbClr val="24325B"/>
                </a:solidFill>
                <a:latin typeface="Noto Sans"/>
                <a:ea typeface="Noto Sans"/>
              </a:rPr>
              <a:t>LÝ DO CHỌN ĐỀ TÀI</a:t>
            </a:r>
            <a:endParaRPr kumimoji="1" lang="vi-VN" altLang="vi-VN" sz="2100" b="1" dirty="0">
              <a:solidFill>
                <a:srgbClr val="24325B"/>
              </a:solidFill>
              <a:latin typeface="Noto Sans"/>
              <a:ea typeface="Noto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ircle(in)">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15511854-7B99-4D64-B773-08EA7E309E6D}"/>
              </a:ext>
            </a:extLst>
          </p:cNvPr>
          <p:cNvSpPr txBox="1"/>
          <p:nvPr/>
        </p:nvSpPr>
        <p:spPr>
          <a:xfrm>
            <a:off x="756188" y="1096696"/>
            <a:ext cx="10679624" cy="4664607"/>
          </a:xfrm>
          <a:prstGeom prst="rect">
            <a:avLst/>
          </a:prstGeom>
          <a:noFill/>
        </p:spPr>
        <p:txBody>
          <a:bodyPr wrap="square">
            <a:noAutofit/>
          </a:bodyPr>
          <a:lstStyle/>
          <a:p>
            <a:pPr marL="342900" indent="-342900">
              <a:lnSpc>
                <a:spcPct val="150000"/>
              </a:lnSpc>
              <a:buFont typeface="Arial" panose="020B0604020202020204" pitchFamily="34" charset="0"/>
              <a:buChar char="•"/>
            </a:pPr>
            <a:r>
              <a:rPr lang="vi-VN" sz="2800" dirty="0">
                <a:latin typeface="Noto Sans" panose="020B0502040504020204" pitchFamily="34" charset="0"/>
                <a:ea typeface="Noto Sans" panose="020B0502040504020204" pitchFamily="34" charset="0"/>
                <a:cs typeface="Noto Sans" panose="020B0502040504020204" pitchFamily="34" charset="0"/>
              </a:rPr>
              <a:t>Xây dựng mô hình học sâu có khả năng phân loại ảnh X-quang thành hai nhóm: bình thường và bất thường. </a:t>
            </a:r>
            <a:endParaRPr lang="en-US" sz="2800" dirty="0">
              <a:latin typeface="Noto Sans" panose="020B0502040504020204" pitchFamily="34" charset="0"/>
              <a:ea typeface="Noto Sans" panose="020B0502040504020204" pitchFamily="34" charset="0"/>
              <a:cs typeface="Noto Sans" panose="020B0502040504020204" pitchFamily="34" charset="0"/>
            </a:endParaRPr>
          </a:p>
          <a:p>
            <a:pPr marL="342900" indent="-342900">
              <a:lnSpc>
                <a:spcPct val="150000"/>
              </a:lnSpc>
              <a:buFont typeface="Arial" panose="020B0604020202020204" pitchFamily="34" charset="0"/>
              <a:buChar char="•"/>
            </a:pPr>
            <a:r>
              <a:rPr lang="vi-VN" sz="2800" dirty="0">
                <a:latin typeface="Noto Sans" panose="020B0502040504020204" pitchFamily="34" charset="0"/>
                <a:ea typeface="Noto Sans" panose="020B0502040504020204" pitchFamily="34" charset="0"/>
                <a:cs typeface="Noto Sans" panose="020B0502040504020204" pitchFamily="34" charset="0"/>
              </a:rPr>
              <a:t>Áp dụng và đánh giá kỹ thuật cải tiến mô hình VGG16 như Batch Normalization, Dropout và Fine-tuning nhằm nâng cao độ chính xác và tính ổn định . </a:t>
            </a:r>
            <a:endParaRPr lang="en-US" sz="2800" dirty="0">
              <a:latin typeface="Noto Sans" panose="020B0502040504020204" pitchFamily="34" charset="0"/>
              <a:ea typeface="Noto Sans" panose="020B0502040504020204" pitchFamily="34" charset="0"/>
              <a:cs typeface="Noto Sans" panose="020B0502040504020204" pitchFamily="34" charset="0"/>
            </a:endParaRPr>
          </a:p>
          <a:p>
            <a:pPr marL="342900" indent="-342900">
              <a:lnSpc>
                <a:spcPct val="150000"/>
              </a:lnSpc>
              <a:buFont typeface="Arial" panose="020B0604020202020204" pitchFamily="34" charset="0"/>
              <a:buChar char="•"/>
            </a:pPr>
            <a:r>
              <a:rPr lang="vi-VN" sz="2800" dirty="0">
                <a:latin typeface="Noto Sans" panose="020B0502040504020204" pitchFamily="34" charset="0"/>
                <a:ea typeface="Noto Sans" panose="020B0502040504020204" pitchFamily="34" charset="0"/>
                <a:cs typeface="Noto Sans" panose="020B0502040504020204" pitchFamily="34" charset="0"/>
              </a:rPr>
              <a:t>So sánh hiệu quả giữa mô hình VGG16 gốc và VGG16 cải tiến thông qua các chỉ số.</a:t>
            </a:r>
            <a:endParaRPr lang="vi-VN" altLang="vi-VN" sz="2800" dirty="0">
              <a:latin typeface="Noto Sans" panose="020B0502040504020204" pitchFamily="34" charset="0"/>
              <a:ea typeface="Noto Sans" panose="020B0502040504020204" pitchFamily="34" charset="0"/>
              <a:cs typeface="Noto Sans" panose="020B0502040504020204" pitchFamily="34" charset="0"/>
            </a:endParaRPr>
          </a:p>
        </p:txBody>
      </p:sp>
      <p:sp>
        <p:nvSpPr>
          <p:cNvPr id="20" name="文本框 19">
            <a:extLst>
              <a:ext uri="{FF2B5EF4-FFF2-40B4-BE49-F238E27FC236}">
                <a16:creationId xmlns:a16="http://schemas.microsoft.com/office/drawing/2014/main" id="{34D3F9F1-55EC-7D46-BC61-C55753C282AA}"/>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a:solidFill>
                  <a:srgbClr val="24325B"/>
                </a:solidFill>
                <a:latin typeface="Noto Sans"/>
                <a:ea typeface="Noto Sans"/>
              </a:rPr>
              <a:t>MỤC TIÊU NGHIÊN CỨU</a:t>
            </a:r>
            <a:endParaRPr kumimoji="1" lang="vi-VN" altLang="vi-VN" sz="2100" b="1" dirty="0">
              <a:solidFill>
                <a:srgbClr val="24325B"/>
              </a:solidFill>
              <a:latin typeface="Noto Sans"/>
              <a:ea typeface="Noto Sans"/>
            </a:endParaRPr>
          </a:p>
        </p:txBody>
      </p:sp>
    </p:spTree>
    <p:extLst>
      <p:ext uri="{BB962C8B-B14F-4D97-AF65-F5344CB8AC3E}">
        <p14:creationId xmlns:p14="http://schemas.microsoft.com/office/powerpoint/2010/main" val="2990038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ircle(in)">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a:bodyPr>
          <a:lstStyle/>
          <a:p>
            <a:pPr algn="dist"/>
            <a:r>
              <a:rPr kumimoji="1" lang="en-US" altLang="vi-VN" sz="5400" b="1" dirty="0">
                <a:solidFill>
                  <a:schemeClr val="tx1">
                    <a:lumMod val="75000"/>
                    <a:lumOff val="25000"/>
                  </a:schemeClr>
                </a:solidFill>
                <a:latin typeface="Noto Sans"/>
                <a:ea typeface="Noto Sans"/>
              </a:rPr>
              <a:t>CƠ SỞ LÝ THUYẾT</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2</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031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4DB4C168-76D2-2E47-9F6F-6214F701E8E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a:solidFill>
                  <a:srgbClr val="24325B"/>
                </a:solidFill>
                <a:latin typeface="Noto Sans"/>
                <a:ea typeface="Noto Sans"/>
              </a:rPr>
              <a:t>CƠ SỞ LÝ THUYẾT</a:t>
            </a:r>
            <a:endParaRPr kumimoji="1" lang="vi-VN" altLang="vi-VN" sz="2100" b="1" dirty="0">
              <a:solidFill>
                <a:srgbClr val="24325B"/>
              </a:solidFill>
              <a:latin typeface="Noto Sans"/>
              <a:ea typeface="Noto Sans"/>
            </a:endParaRPr>
          </a:p>
        </p:txBody>
      </p:sp>
      <p:sp>
        <p:nvSpPr>
          <p:cNvPr id="7" name="Rectangle 4">
            <a:extLst>
              <a:ext uri="{FF2B5EF4-FFF2-40B4-BE49-F238E27FC236}">
                <a16:creationId xmlns:a16="http://schemas.microsoft.com/office/drawing/2014/main" id="{08454A73-EF5B-9C0B-00B9-12AD227BCE1B}"/>
              </a:ext>
            </a:extLst>
          </p:cNvPr>
          <p:cNvSpPr>
            <a:spLocks noGrp="1" noChangeArrowheads="1"/>
          </p:cNvSpPr>
          <p:nvPr>
            <p:ph type="body" idx="4294967295"/>
          </p:nvPr>
        </p:nvSpPr>
        <p:spPr bwMode="auto">
          <a:xfrm>
            <a:off x="1010444" y="1224170"/>
            <a:ext cx="10171111" cy="5019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Deep Learning: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Là</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một</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nhánh</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Machine Learning,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xây</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dựng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dựa</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trên</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mạng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nơ-ron</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nhân</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tạo</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với</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nhiều</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lớp</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xử</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lý</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Điểm</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đặc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trưng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là</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khả</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năng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động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học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các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đặc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trưng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từ</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mà</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không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cần</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con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người</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thiết</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kế</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thủ</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công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CNN (Convolutional Neural Network):</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Mạng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chuyên</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biệt</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cho</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xử</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lý</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Ở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các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lớp</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đầu</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mạng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học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các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đặc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điểm</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đơn</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giản</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đường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viền</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vùng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sáng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tối</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Ở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các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lớp</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sâu</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mạng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học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những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đặc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điểm</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phức</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tạp</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hơn</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hình</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dạng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tổng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thể</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4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tượng</a:t>
            </a:r>
            <a:r>
              <a:rPr kumimoji="0" lang="en-US" altLang="en-US" sz="24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4DB4C168-76D2-2E47-9F6F-6214F701E8E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a:solidFill>
                  <a:srgbClr val="24325B"/>
                </a:solidFill>
                <a:latin typeface="Noto Sans"/>
                <a:ea typeface="Noto Sans"/>
              </a:rPr>
              <a:t>CƠ SỞ LÝ THUYẾT</a:t>
            </a:r>
            <a:endParaRPr kumimoji="1" lang="vi-VN" altLang="vi-VN" sz="2100" b="1" dirty="0">
              <a:solidFill>
                <a:srgbClr val="24325B"/>
              </a:solidFill>
              <a:latin typeface="Noto Sans"/>
              <a:ea typeface="Noto Sans"/>
            </a:endParaRPr>
          </a:p>
        </p:txBody>
      </p:sp>
      <p:sp>
        <p:nvSpPr>
          <p:cNvPr id="2" name="Text Placeholder 1">
            <a:extLst>
              <a:ext uri="{FF2B5EF4-FFF2-40B4-BE49-F238E27FC236}">
                <a16:creationId xmlns:a16="http://schemas.microsoft.com/office/drawing/2014/main" id="{F968F4C7-83B5-E1E5-5879-9303D8756C9E}"/>
              </a:ext>
            </a:extLst>
          </p:cNvPr>
          <p:cNvSpPr>
            <a:spLocks noGrp="1" noChangeArrowheads="1"/>
          </p:cNvSpPr>
          <p:nvPr>
            <p:ph type="body" idx="4294967295"/>
          </p:nvPr>
        </p:nvSpPr>
        <p:spPr bwMode="auto">
          <a:xfrm>
            <a:off x="915194" y="1140045"/>
            <a:ext cx="10361611" cy="5536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Kiến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trúc</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VGG16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gốc</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Cấu</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trúc</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Gồm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16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lớp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có</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tham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số</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sử</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dụng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các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lớp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tích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chập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kích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thước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nhỏ</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(3 x 3)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xếp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chồng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nhau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nhằm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tăng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khả</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năng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học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đặc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trưng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Ưu</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điểm</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&amp;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Hạn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chế</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Kiến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trúc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rõ</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ràng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tính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ổn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định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nhiên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áp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dụng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cho</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y khoa,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mô</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dễ</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gặp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hiện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tượng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quá</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khớp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(overfitting) do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số</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lượng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tham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số</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lớn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trong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huấn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luyện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hạn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chế</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Kiến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trúc</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VGG16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cải</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tiến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Mục</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tiêu</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Nâng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quả</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học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tăng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tính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tổng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quát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ổn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định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cho</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bài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toán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phân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loại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X-</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quang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phổi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(Normal vs Tuberculosis).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Thay</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đổi</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ở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phần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phân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loại</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(Classifier):</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nguyên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các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khối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trích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xuất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đặc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trưng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cơ</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thiết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kế</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lại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các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lớp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cuối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để</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kiểm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soát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quá</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học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tốt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hơn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777621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E4D1B2AB-D9BE-E448-A304-CCCD873A51E7}"/>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a:solidFill>
                  <a:srgbClr val="24325B"/>
                </a:solidFill>
                <a:latin typeface="Noto Sans"/>
                <a:ea typeface="Noto Sans"/>
              </a:rPr>
              <a:t>CÁC KỸ THUẬT CẢI TIẾN</a:t>
            </a:r>
            <a:endParaRPr kumimoji="1" lang="vi-VN" altLang="vi-VN" sz="2100" b="1" dirty="0">
              <a:solidFill>
                <a:srgbClr val="24325B"/>
              </a:solidFill>
              <a:latin typeface="Noto Sans"/>
              <a:ea typeface="Noto Sans"/>
            </a:endParaRPr>
          </a:p>
        </p:txBody>
      </p:sp>
      <p:sp>
        <p:nvSpPr>
          <p:cNvPr id="4" name="Rectangle 2">
            <a:extLst>
              <a:ext uri="{FF2B5EF4-FFF2-40B4-BE49-F238E27FC236}">
                <a16:creationId xmlns:a16="http://schemas.microsoft.com/office/drawing/2014/main" id="{65607059-B743-2809-C6A9-0FA91A7F13DB}"/>
              </a:ext>
            </a:extLst>
          </p:cNvPr>
          <p:cNvSpPr>
            <a:spLocks noChangeArrowheads="1"/>
          </p:cNvSpPr>
          <p:nvPr/>
        </p:nvSpPr>
        <p:spPr bwMode="auto">
          <a:xfrm>
            <a:off x="1266825" y="1333843"/>
            <a:ext cx="9658350"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Các</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kỹ</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thuật</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cải</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tiến</a:t>
            </a:r>
            <a:r>
              <a:rPr kumimoji="0" lang="en-US" altLang="en-US" sz="2000" b="1" i="0" u="none" strike="noStrike" cap="none" normalizeH="0" baseline="0" dirty="0">
                <a:ln>
                  <a:noFill/>
                </a:ln>
                <a:solidFill>
                  <a:schemeClr val="tx1"/>
                </a:solidFill>
                <a:effectLst/>
                <a:latin typeface="Arial" panose="020B0604020202020204" pitchFamily="34" charset="0"/>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Batch Normalization (BN):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Được</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bổ</a:t>
            </a:r>
            <a:r>
              <a:rPr kumimoji="0" lang="en-US" altLang="en-US" sz="2000" b="0" i="0" u="none" strike="noStrike" cap="none" normalizeH="0" baseline="0" dirty="0">
                <a:ln>
                  <a:noFill/>
                </a:ln>
                <a:solidFill>
                  <a:schemeClr val="tx1"/>
                </a:solidFill>
                <a:effectLst/>
                <a:latin typeface="Arial" panose="020B0604020202020204" pitchFamily="34" charset="0"/>
              </a:rPr>
              <a:t> sung </a:t>
            </a:r>
            <a:r>
              <a:rPr kumimoji="0" lang="en-US" altLang="en-US" sz="2000" b="0" i="0" u="none" strike="noStrike" cap="none" normalizeH="0" baseline="0" dirty="0" err="1">
                <a:ln>
                  <a:noFill/>
                </a:ln>
                <a:solidFill>
                  <a:schemeClr val="tx1"/>
                </a:solidFill>
                <a:effectLst/>
                <a:latin typeface="Arial" panose="020B0604020202020204" pitchFamily="34" charset="0"/>
              </a:rPr>
              <a:t>vào</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phần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phân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loại</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giúp</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ổn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định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quá</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trình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huấn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luyện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và</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tăng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tốc</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độ</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hội</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tụ</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của</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mô</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hình</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Dropout (</a:t>
            </a:r>
            <a:r>
              <a:rPr kumimoji="0" lang="en-US" altLang="en-US" sz="2000" b="1" i="0" u="none" strike="noStrike" cap="none" normalizeH="0" baseline="0" dirty="0" err="1">
                <a:ln>
                  <a:noFill/>
                </a:ln>
                <a:solidFill>
                  <a:schemeClr val="tx1"/>
                </a:solidFill>
                <a:effectLst/>
                <a:latin typeface="Arial" panose="020B0604020202020204" pitchFamily="34" charset="0"/>
              </a:rPr>
              <a:t>Tỷ</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lệ</a:t>
            </a:r>
            <a:r>
              <a:rPr kumimoji="0" lang="en-US" altLang="en-US" sz="2000" b="1" i="0" u="none" strike="noStrike" cap="none" normalizeH="0" baseline="0" dirty="0">
                <a:ln>
                  <a:noFill/>
                </a:ln>
                <a:solidFill>
                  <a:schemeClr val="tx1"/>
                </a:solidFill>
                <a:effectLst/>
                <a:latin typeface="Arial" panose="020B0604020202020204" pitchFamily="34" charset="0"/>
              </a:rPr>
              <a:t> 0.5):</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Áp</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dụng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bằng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cách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ngẫu</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nhiên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loại</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bỏ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một</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số</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nơ-ron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trong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quá</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trình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huấn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luyện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Kỹ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thuật</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này</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giúp</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giảm</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hiện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tượng</a:t>
            </a:r>
            <a:r>
              <a:rPr kumimoji="0" lang="en-US" altLang="en-US" sz="2000" b="0" i="0" u="none" strike="noStrike" cap="none" normalizeH="0" baseline="0" dirty="0">
                <a:ln>
                  <a:noFill/>
                </a:ln>
                <a:solidFill>
                  <a:schemeClr val="tx1"/>
                </a:solidFill>
                <a:effectLst/>
                <a:latin typeface="Arial" panose="020B0604020202020204" pitchFamily="34" charset="0"/>
              </a:rPr>
              <a:t> “</a:t>
            </a:r>
            <a:r>
              <a:rPr lang="en-US" altLang="en-US" sz="2000" dirty="0" err="1">
                <a:latin typeface="Arial" panose="020B0604020202020204" pitchFamily="34" charset="0"/>
              </a:rPr>
              <a:t>quá</a:t>
            </a:r>
            <a:r>
              <a:rPr lang="en-US" altLang="en-US" sz="2000" dirty="0">
                <a:latin typeface="Arial" panose="020B0604020202020204" pitchFamily="34" charset="0"/>
              </a:rPr>
              <a:t> </a:t>
            </a:r>
            <a:r>
              <a:rPr lang="en-US" altLang="en-US" sz="2000" dirty="0" err="1">
                <a:latin typeface="Arial" panose="020B0604020202020204" pitchFamily="34" charset="0"/>
              </a:rPr>
              <a:t>khớp</a:t>
            </a:r>
            <a:r>
              <a:rPr kumimoji="0" lang="en-US" altLang="en-US" sz="2000" b="0" i="0" u="none" strike="noStrike" cap="none" normalizeH="0" baseline="0" dirty="0">
                <a:ln>
                  <a:noFill/>
                </a:ln>
                <a:solidFill>
                  <a:schemeClr val="tx1"/>
                </a:solidFill>
                <a:effectLst/>
                <a:latin typeface="Arial" panose="020B0604020202020204" pitchFamily="34" charset="0"/>
              </a:rPr>
              <a:t>" (overfitting) </a:t>
            </a:r>
            <a:r>
              <a:rPr kumimoji="0" lang="en-US" altLang="en-US" sz="2000" b="0" i="0" u="none" strike="noStrike" cap="none" normalizeH="0" baseline="0" dirty="0" err="1">
                <a:ln>
                  <a:noFill/>
                </a:ln>
                <a:solidFill>
                  <a:schemeClr val="tx1"/>
                </a:solidFill>
                <a:effectLst/>
                <a:latin typeface="Arial" panose="020B0604020202020204" pitchFamily="34" charset="0"/>
              </a:rPr>
              <a:t>và</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tăng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khả</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năng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dự</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đoán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chính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xác</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trên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dữ</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liệu</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mới</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Fine-tuning: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Sử</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dụng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kiến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trúc</a:t>
            </a:r>
            <a:r>
              <a:rPr kumimoji="0" lang="en-US" altLang="en-US" sz="2000" b="0" i="0" u="none" strike="noStrike" cap="none" normalizeH="0" baseline="0" dirty="0">
                <a:ln>
                  <a:noFill/>
                </a:ln>
                <a:solidFill>
                  <a:schemeClr val="tx1"/>
                </a:solidFill>
                <a:effectLst/>
                <a:latin typeface="Arial" panose="020B0604020202020204" pitchFamily="34" charset="0"/>
              </a:rPr>
              <a:t> VGG16 </a:t>
            </a:r>
            <a:r>
              <a:rPr kumimoji="0" lang="en-US" altLang="en-US" sz="2000" b="0" i="0" u="none" strike="noStrike" cap="none" normalizeH="0" baseline="0" dirty="0" err="1">
                <a:ln>
                  <a:noFill/>
                </a:ln>
                <a:solidFill>
                  <a:schemeClr val="tx1"/>
                </a:solidFill>
                <a:effectLst/>
                <a:latin typeface="Arial" panose="020B0604020202020204" pitchFamily="34" charset="0"/>
              </a:rPr>
              <a:t>đã</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huấn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luyện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trước</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trên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tập</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dữ</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liệu</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lớn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Thực</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hiện</a:t>
            </a:r>
            <a:r>
              <a:rPr kumimoji="0" lang="en-US" altLang="en-US" sz="2000" b="0" i="0" u="none" strike="noStrike" cap="none" normalizeH="0" baseline="0" dirty="0">
                <a:ln>
                  <a:noFill/>
                </a:ln>
                <a:solidFill>
                  <a:schemeClr val="tx1"/>
                </a:solidFill>
                <a:effectLst/>
                <a:latin typeface="Arial" panose="020B0604020202020204" pitchFamily="34" charset="0"/>
              </a:rPr>
              <a:t> Fine-tuning </a:t>
            </a:r>
            <a:r>
              <a:rPr kumimoji="0" lang="en-US" altLang="en-US" sz="2000" b="0" i="0" u="none" strike="noStrike" cap="none" normalizeH="0" baseline="0" dirty="0" err="1">
                <a:ln>
                  <a:noFill/>
                </a:ln>
                <a:solidFill>
                  <a:schemeClr val="tx1"/>
                </a:solidFill>
                <a:effectLst/>
                <a:latin typeface="Arial" panose="020B0604020202020204" pitchFamily="34" charset="0"/>
              </a:rPr>
              <a:t>để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điều</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chỉnh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các</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lớp</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phân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loại</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sao</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cho</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phù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hợp</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nhất</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với</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các</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đặc</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điểm</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bệnh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lý</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trên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ảnh</a:t>
            </a:r>
            <a:r>
              <a:rPr kumimoji="0" lang="en-US" altLang="en-US" sz="2000" b="0" i="0" u="none" strike="noStrike" cap="none" normalizeH="0" baseline="0" dirty="0">
                <a:ln>
                  <a:noFill/>
                </a:ln>
                <a:solidFill>
                  <a:schemeClr val="tx1"/>
                </a:solidFill>
                <a:effectLst/>
                <a:latin typeface="Arial" panose="020B0604020202020204" pitchFamily="34" charset="0"/>
              </a:rPr>
              <a:t> X-</a:t>
            </a:r>
            <a:r>
              <a:rPr kumimoji="0" lang="en-US" altLang="en-US" sz="2000" b="0" i="0" u="none" strike="noStrike" cap="none" normalizeH="0" baseline="0" dirty="0" err="1">
                <a:ln>
                  <a:noFill/>
                </a:ln>
                <a:solidFill>
                  <a:schemeClr val="tx1"/>
                </a:solidFill>
                <a:effectLst/>
                <a:latin typeface="Arial" panose="020B0604020202020204" pitchFamily="34" charset="0"/>
              </a:rPr>
              <a:t>quang</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fontScale="70000" lnSpcReduction="20000"/>
          </a:bodyPr>
          <a:lstStyle/>
          <a:p>
            <a:pPr algn="dist"/>
            <a:r>
              <a:rPr kumimoji="1" lang="en-US" altLang="vi-VN" sz="5400" b="1" dirty="0">
                <a:solidFill>
                  <a:schemeClr val="tx1">
                    <a:lumMod val="75000"/>
                    <a:lumOff val="25000"/>
                  </a:schemeClr>
                </a:solidFill>
                <a:latin typeface="Noto Sans"/>
                <a:ea typeface="Noto Sans"/>
              </a:rPr>
              <a:t>PHƯƠNG PHÁP NGHIÊN CỨU</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3</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214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A4AF48BE-4913-C446-A702-841C8F0BC93A}"/>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Phương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pháp</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nghiên</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cứu</a:t>
            </a:r>
            <a:endParaRPr kumimoji="1" lang="vi-VN" altLang="vi-VN" sz="2100" b="1" dirty="0">
              <a:solidFill>
                <a:srgbClr val="24325B"/>
              </a:solidFill>
              <a:latin typeface="Noto Sans"/>
              <a:ea typeface="Noto Sans"/>
            </a:endParaRPr>
          </a:p>
        </p:txBody>
      </p:sp>
      <p:sp>
        <p:nvSpPr>
          <p:cNvPr id="10" name="Rectangle 3">
            <a:extLst>
              <a:ext uri="{FF2B5EF4-FFF2-40B4-BE49-F238E27FC236}">
                <a16:creationId xmlns:a16="http://schemas.microsoft.com/office/drawing/2014/main" id="{CAF18DAF-78B0-87F6-AC60-7EF6B0F22871}"/>
              </a:ext>
            </a:extLst>
          </p:cNvPr>
          <p:cNvSpPr>
            <a:spLocks noChangeArrowheads="1"/>
          </p:cNvSpPr>
          <p:nvPr/>
        </p:nvSpPr>
        <p:spPr bwMode="auto">
          <a:xfrm>
            <a:off x="1266825" y="1324711"/>
            <a:ext cx="9658350" cy="5121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1. Thu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thập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mô</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tả</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(Dataset)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Nguồn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Sử</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dụng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bộ</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TB Chest Radiography Database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được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tải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từ</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nền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tảng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Kaggle.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Phân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loại</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nhãn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bao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gồm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các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X-</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quang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phổi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đã</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được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gán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nhãn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sẵn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thành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hai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nhóm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Thư</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mục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Normal</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phổi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thường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thư</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mục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Tuberculosis</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phổi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có</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dấu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bệnh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lao</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Phân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chia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được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chia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làm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3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tập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độc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lập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Training set</a:t>
            </a:r>
            <a:r>
              <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huấn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luyện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Validation set</a:t>
            </a:r>
            <a:r>
              <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theo</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dõi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quá</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học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Test set</a:t>
            </a:r>
            <a:r>
              <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đánh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giá</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cuối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cùng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Thông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số</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kỹ</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thuật</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Định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dạng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JPG/PNG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được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xử</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lý</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Batch size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64.</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A4AF48BE-4913-C446-A702-841C8F0BC93A}"/>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Phương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pháp</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nghiên</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cứu</a:t>
            </a:r>
            <a:endParaRPr kumimoji="1" lang="vi-VN" altLang="vi-VN" sz="2100" b="1" dirty="0">
              <a:solidFill>
                <a:srgbClr val="24325B"/>
              </a:solidFill>
              <a:latin typeface="Noto Sans"/>
              <a:ea typeface="Noto Sans"/>
            </a:endParaRPr>
          </a:p>
        </p:txBody>
      </p:sp>
      <p:sp>
        <p:nvSpPr>
          <p:cNvPr id="10" name="Rectangle 3">
            <a:extLst>
              <a:ext uri="{FF2B5EF4-FFF2-40B4-BE49-F238E27FC236}">
                <a16:creationId xmlns:a16="http://schemas.microsoft.com/office/drawing/2014/main" id="{CAF18DAF-78B0-87F6-AC60-7EF6B0F22871}"/>
              </a:ext>
            </a:extLst>
          </p:cNvPr>
          <p:cNvSpPr>
            <a:spLocks noChangeArrowheads="1"/>
          </p:cNvSpPr>
          <p:nvPr/>
        </p:nvSpPr>
        <p:spPr bwMode="auto">
          <a:xfrm>
            <a:off x="1295400" y="1099099"/>
            <a:ext cx="9601200" cy="4659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2. Quy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tiền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xử</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lý</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bộ</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kích</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thước</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(Resize):</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Toàn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bộ</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được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đưa</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về</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kích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thước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chuẩn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224x224 pixel</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để</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phù</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hợp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với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yêu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cầu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đầu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vào</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kiến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trúc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VGG16.</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Tăng</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cường</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(Data Augmentation):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Áp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dụng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các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kỹ</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thuật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xoay</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lật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ngang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cắt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/zoom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nhẹ</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cho</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tập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huấn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luyện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nhằm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giúp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mô</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học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dạng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tránh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hiện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tượng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quá</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khớp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Chuẩn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(Normalization):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đổi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giá</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trị</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pixel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về</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đoạn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[0, 1]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chuẩn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theo</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thông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số</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trung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[0.485, 0.456, 0.406]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cùng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độ</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lệch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chuẩn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[0.229, 0.224, 0.225]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ImageNet.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1832558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fontScale="62500" lnSpcReduction="20000"/>
          </a:bodyPr>
          <a:lstStyle/>
          <a:p>
            <a:pPr algn="dist"/>
            <a:r>
              <a:rPr kumimoji="1" lang="en-US" altLang="vi-VN" sz="5400" b="1" dirty="0">
                <a:solidFill>
                  <a:schemeClr val="tx1">
                    <a:lumMod val="75000"/>
                    <a:lumOff val="25000"/>
                  </a:schemeClr>
                </a:solidFill>
                <a:latin typeface="Noto Sans"/>
                <a:ea typeface="Noto Sans"/>
              </a:rPr>
              <a:t>XÂY DỰNG &amp; ĐÁNH GIÁ MÔ HÌNH</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4</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698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71DD32D-E63D-4744-A1DF-F6CBA9C257A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Xây</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dựng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mô</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hình</a:t>
            </a:r>
            <a:endParaRPr kumimoji="1" lang="vi-VN" altLang="vi-VN" sz="2100" b="1" dirty="0">
              <a:solidFill>
                <a:srgbClr val="24325B"/>
              </a:solidFill>
              <a:latin typeface="Noto Sans"/>
              <a:ea typeface="Noto Sans"/>
            </a:endParaRPr>
          </a:p>
        </p:txBody>
      </p:sp>
      <p:sp>
        <p:nvSpPr>
          <p:cNvPr id="8" name="Rectangle 5">
            <a:extLst>
              <a:ext uri="{FF2B5EF4-FFF2-40B4-BE49-F238E27FC236}">
                <a16:creationId xmlns:a16="http://schemas.microsoft.com/office/drawing/2014/main" id="{2FE0B713-5DBD-73EE-A66E-52EC1D3630B3}"/>
              </a:ext>
            </a:extLst>
          </p:cNvPr>
          <p:cNvSpPr>
            <a:spLocks noChangeArrowheads="1"/>
          </p:cNvSpPr>
          <p:nvPr/>
        </p:nvSpPr>
        <p:spPr bwMode="auto">
          <a:xfrm>
            <a:off x="1130197" y="1270550"/>
            <a:ext cx="10458450" cy="4659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Môi</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trường</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công</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cụ</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thực</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hiện</a:t>
            </a:r>
            <a:endPar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Ngôn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ngữ</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lập</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trình</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Sử</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dụng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ngôn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Python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để</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cài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đặt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chạy</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chương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Môi</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trường</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Thực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hiện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trên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Kaggle Notebook</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tận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dụng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hỗ</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trợ</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GPU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để</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tối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ưu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suất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tính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toán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Thư</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viện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altLang="en-US" sz="2000" b="1" dirty="0">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PyTorch</a:t>
            </a:r>
            <a:endPar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vi-VN"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Quy trình huấn luyện:</a:t>
            </a:r>
            <a:endPar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vi-VN"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Duyệt qua từng vòng, lấy nhóm ảnh đưa vào mô hình để dự đoán và tính mức độ sai lệch.</a:t>
            </a:r>
            <a:endPar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vi-VN"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 nhật giá trị mô hình và kiểm tra kết quả trên tập kiểm tra.</a:t>
            </a:r>
            <a:endPar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vi-VN"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 </a:t>
            </a:r>
            <a:r>
              <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t>
            </a:r>
            <a:r>
              <a:rPr kumimoji="0" lang="vi-VN"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ô hình tốt nhất.</a:t>
            </a:r>
            <a:endParaRPr kumimoji="0" lang="en-US" altLang="en-US" sz="200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1835524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71DD32D-E63D-4744-A1DF-F6CBA9C257A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Xây</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dựng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mô</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hình</a:t>
            </a:r>
            <a:endParaRPr kumimoji="1" lang="vi-VN" altLang="vi-VN" sz="2100" b="1" dirty="0">
              <a:solidFill>
                <a:srgbClr val="24325B"/>
              </a:solidFill>
              <a:latin typeface="Noto Sans"/>
              <a:ea typeface="Noto Sans"/>
            </a:endParaRPr>
          </a:p>
        </p:txBody>
      </p:sp>
      <p:sp>
        <p:nvSpPr>
          <p:cNvPr id="5" name="Rectangle 2">
            <a:extLst>
              <a:ext uri="{FF2B5EF4-FFF2-40B4-BE49-F238E27FC236}">
                <a16:creationId xmlns:a16="http://schemas.microsoft.com/office/drawing/2014/main" id="{DFD1265F-8F25-69A3-F352-9647EBCE292C}"/>
              </a:ext>
            </a:extLst>
          </p:cNvPr>
          <p:cNvSpPr>
            <a:spLocks noChangeArrowheads="1"/>
          </p:cNvSpPr>
          <p:nvPr/>
        </p:nvSpPr>
        <p:spPr bwMode="auto">
          <a:xfrm>
            <a:off x="571500" y="1211168"/>
            <a:ext cx="11049000" cy="5121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Thiết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kế</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mô</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VGG16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gốc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Cải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tiến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Mô</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hình</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VGG16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gốc</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nguyên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khối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trích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xuất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đặc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trưng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Phần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phân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loại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gồm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Flatten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-&gt;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Linear (512)</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-&gt;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-&gt;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Linear (2)</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Mô</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hình</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VGG16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cải</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tiến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Lớp</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Batch Normalization: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Giúp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ổn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định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hơn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trong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quá</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học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Lớp</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Dropout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0.5):</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Ngẫu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nhiên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loại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bỏ</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một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phần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để</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ngăn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vẹt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(overfitting)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các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chi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tiết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nhiễu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trong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y khoa.</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Cấu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trúc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cải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tiến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Flatten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-&gt;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Linear (512)</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-&gt;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-&gt;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BatchNorm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-&gt;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Dropout (0.5)</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-&gt;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Linear (2)</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703337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judge_107729">
            <a:extLst>
              <a:ext uri="{FF2B5EF4-FFF2-40B4-BE49-F238E27FC236}">
                <a16:creationId xmlns:a16="http://schemas.microsoft.com/office/drawing/2014/main" id="{6E022722-1AF3-444E-A6D3-73DA38FFB1C3}"/>
              </a:ext>
            </a:extLst>
          </p:cNvPr>
          <p:cNvSpPr/>
          <p:nvPr/>
        </p:nvSpPr>
        <p:spPr>
          <a:xfrm>
            <a:off x="7819456" y="1669320"/>
            <a:ext cx="2772655" cy="2312798"/>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8415" h="507507">
                <a:moveTo>
                  <a:pt x="387786" y="233501"/>
                </a:moveTo>
                <a:lnTo>
                  <a:pt x="588134" y="233501"/>
                </a:lnTo>
                <a:cubicBezTo>
                  <a:pt x="599350" y="233501"/>
                  <a:pt x="608415" y="242551"/>
                  <a:pt x="608415" y="253747"/>
                </a:cubicBezTo>
                <a:cubicBezTo>
                  <a:pt x="608415" y="320008"/>
                  <a:pt x="554333" y="373997"/>
                  <a:pt x="487960" y="373997"/>
                </a:cubicBezTo>
                <a:cubicBezTo>
                  <a:pt x="421587" y="373997"/>
                  <a:pt x="367505" y="320008"/>
                  <a:pt x="367505" y="253747"/>
                </a:cubicBezTo>
                <a:cubicBezTo>
                  <a:pt x="367505" y="242551"/>
                  <a:pt x="376570" y="233501"/>
                  <a:pt x="387786" y="233501"/>
                </a:cubicBezTo>
                <a:close/>
                <a:moveTo>
                  <a:pt x="20281" y="233501"/>
                </a:moveTo>
                <a:lnTo>
                  <a:pt x="220629" y="233501"/>
                </a:lnTo>
                <a:cubicBezTo>
                  <a:pt x="231845" y="233501"/>
                  <a:pt x="240910" y="242551"/>
                  <a:pt x="240910" y="253747"/>
                </a:cubicBezTo>
                <a:cubicBezTo>
                  <a:pt x="240910" y="320008"/>
                  <a:pt x="186828" y="373997"/>
                  <a:pt x="120455" y="373997"/>
                </a:cubicBezTo>
                <a:cubicBezTo>
                  <a:pt x="54082" y="373997"/>
                  <a:pt x="0" y="320008"/>
                  <a:pt x="0" y="253747"/>
                </a:cubicBezTo>
                <a:cubicBezTo>
                  <a:pt x="0" y="242551"/>
                  <a:pt x="9065" y="233501"/>
                  <a:pt x="20281" y="233501"/>
                </a:cubicBezTo>
                <a:close/>
                <a:moveTo>
                  <a:pt x="304207" y="0"/>
                </a:moveTo>
                <a:cubicBezTo>
                  <a:pt x="315423" y="0"/>
                  <a:pt x="324488" y="9051"/>
                  <a:pt x="324488" y="20251"/>
                </a:cubicBezTo>
                <a:lnTo>
                  <a:pt x="324488" y="66737"/>
                </a:lnTo>
                <a:lnTo>
                  <a:pt x="538048" y="66737"/>
                </a:lnTo>
                <a:cubicBezTo>
                  <a:pt x="549263" y="66737"/>
                  <a:pt x="558328" y="75788"/>
                  <a:pt x="558328" y="86988"/>
                </a:cubicBezTo>
                <a:cubicBezTo>
                  <a:pt x="558328" y="98187"/>
                  <a:pt x="549263" y="107239"/>
                  <a:pt x="538048" y="107239"/>
                </a:cubicBezTo>
                <a:lnTo>
                  <a:pt x="534514" y="107239"/>
                </a:lnTo>
                <a:lnTo>
                  <a:pt x="574614" y="207268"/>
                </a:lnTo>
                <a:lnTo>
                  <a:pt x="530980" y="207268"/>
                </a:lnTo>
                <a:lnTo>
                  <a:pt x="490880" y="107239"/>
                </a:lnTo>
                <a:lnTo>
                  <a:pt x="484888" y="107239"/>
                </a:lnTo>
                <a:lnTo>
                  <a:pt x="444788" y="207268"/>
                </a:lnTo>
                <a:lnTo>
                  <a:pt x="401308" y="207268"/>
                </a:lnTo>
                <a:lnTo>
                  <a:pt x="441408" y="107239"/>
                </a:lnTo>
                <a:lnTo>
                  <a:pt x="324488" y="107239"/>
                </a:lnTo>
                <a:lnTo>
                  <a:pt x="324488" y="467005"/>
                </a:lnTo>
                <a:lnTo>
                  <a:pt x="371041" y="467005"/>
                </a:lnTo>
                <a:cubicBezTo>
                  <a:pt x="382257" y="467005"/>
                  <a:pt x="391321" y="476057"/>
                  <a:pt x="391321" y="487256"/>
                </a:cubicBezTo>
                <a:cubicBezTo>
                  <a:pt x="391321" y="498456"/>
                  <a:pt x="382257" y="507507"/>
                  <a:pt x="371041" y="507507"/>
                </a:cubicBezTo>
                <a:lnTo>
                  <a:pt x="237374" y="507507"/>
                </a:lnTo>
                <a:cubicBezTo>
                  <a:pt x="226158" y="507507"/>
                  <a:pt x="217094" y="498456"/>
                  <a:pt x="217094" y="487256"/>
                </a:cubicBezTo>
                <a:cubicBezTo>
                  <a:pt x="217094" y="476057"/>
                  <a:pt x="226158" y="467005"/>
                  <a:pt x="237374" y="467005"/>
                </a:cubicBezTo>
                <a:lnTo>
                  <a:pt x="283927" y="467005"/>
                </a:lnTo>
                <a:lnTo>
                  <a:pt x="283927" y="107239"/>
                </a:lnTo>
                <a:lnTo>
                  <a:pt x="167007" y="107239"/>
                </a:lnTo>
                <a:lnTo>
                  <a:pt x="207107" y="207268"/>
                </a:lnTo>
                <a:lnTo>
                  <a:pt x="163627" y="207268"/>
                </a:lnTo>
                <a:lnTo>
                  <a:pt x="123527" y="107239"/>
                </a:lnTo>
                <a:lnTo>
                  <a:pt x="117535" y="107239"/>
                </a:lnTo>
                <a:lnTo>
                  <a:pt x="77435" y="207268"/>
                </a:lnTo>
                <a:lnTo>
                  <a:pt x="33801" y="207268"/>
                </a:lnTo>
                <a:lnTo>
                  <a:pt x="73901" y="107239"/>
                </a:lnTo>
                <a:lnTo>
                  <a:pt x="70367" y="107239"/>
                </a:lnTo>
                <a:cubicBezTo>
                  <a:pt x="59152" y="107239"/>
                  <a:pt x="50087" y="98187"/>
                  <a:pt x="50087" y="86988"/>
                </a:cubicBezTo>
                <a:cubicBezTo>
                  <a:pt x="50087" y="75788"/>
                  <a:pt x="59152" y="66737"/>
                  <a:pt x="70367" y="66737"/>
                </a:cubicBezTo>
                <a:lnTo>
                  <a:pt x="283927" y="66737"/>
                </a:lnTo>
                <a:lnTo>
                  <a:pt x="283927" y="20251"/>
                </a:lnTo>
                <a:cubicBezTo>
                  <a:pt x="283927" y="9051"/>
                  <a:pt x="292992" y="0"/>
                  <a:pt x="30420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文本框 6">
            <a:extLst>
              <a:ext uri="{FF2B5EF4-FFF2-40B4-BE49-F238E27FC236}">
                <a16:creationId xmlns:a16="http://schemas.microsoft.com/office/drawing/2014/main" id="{675B5B99-BA6A-6544-9564-D0CB66465DA3}"/>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Đánh</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giá</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mô</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hình</a:t>
            </a:r>
            <a:endParaRPr kumimoji="1" lang="vi-VN" altLang="vi-VN" sz="2100" b="1" dirty="0">
              <a:solidFill>
                <a:srgbClr val="24325B"/>
              </a:solidFill>
              <a:latin typeface="Noto Sans"/>
              <a:ea typeface="Noto Sans"/>
            </a:endParaRPr>
          </a:p>
        </p:txBody>
      </p:sp>
      <p:sp>
        <p:nvSpPr>
          <p:cNvPr id="4" name="Rectangle 2">
            <a:extLst>
              <a:ext uri="{FF2B5EF4-FFF2-40B4-BE49-F238E27FC236}">
                <a16:creationId xmlns:a16="http://schemas.microsoft.com/office/drawing/2014/main" id="{C8F711E9-8286-651A-0132-969D9E4ED166}"/>
              </a:ext>
            </a:extLst>
          </p:cNvPr>
          <p:cNvSpPr>
            <a:spLocks noChangeArrowheads="1"/>
          </p:cNvSpPr>
          <p:nvPr/>
        </p:nvSpPr>
        <p:spPr bwMode="auto">
          <a:xfrm>
            <a:off x="1358634" y="1560764"/>
            <a:ext cx="9474732" cy="3736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err="1">
                <a:latin typeface="Noto Sans" panose="020B0502040504020204" pitchFamily="34" charset="0"/>
                <a:ea typeface="Noto Sans" panose="020B0502040504020204" pitchFamily="34" charset="0"/>
                <a:cs typeface="Noto Sans" panose="020B0502040504020204" pitchFamily="34" charset="0"/>
              </a:rPr>
              <a:t>Đánh</a:t>
            </a:r>
            <a:r>
              <a:rPr lang="en-US" altLang="en-US" sz="2000" dirty="0">
                <a:latin typeface="Noto Sans" panose="020B0502040504020204" pitchFamily="34" charset="0"/>
                <a:ea typeface="Noto Sans" panose="020B0502040504020204" pitchFamily="34" charset="0"/>
                <a:cs typeface="Noto Sans" panose="020B0502040504020204" pitchFamily="34" charset="0"/>
              </a:rPr>
              <a:t> </a:t>
            </a:r>
            <a:r>
              <a:rPr lang="en-US" altLang="en-US" sz="2000" dirty="0" err="1">
                <a:latin typeface="Noto Sans" panose="020B0502040504020204" pitchFamily="34" charset="0"/>
                <a:ea typeface="Noto Sans" panose="020B0502040504020204" pitchFamily="34" charset="0"/>
                <a:cs typeface="Noto Sans" panose="020B0502040504020204" pitchFamily="34" charset="0"/>
              </a:rPr>
              <a:t>giá</a:t>
            </a:r>
            <a:r>
              <a:rPr lang="en-US" altLang="en-US" sz="2000" dirty="0">
                <a:latin typeface="Noto Sans" panose="020B0502040504020204" pitchFamily="34" charset="0"/>
                <a:ea typeface="Noto Sans" panose="020B0502040504020204" pitchFamily="34" charset="0"/>
                <a:cs typeface="Noto Sans" panose="020B0502040504020204" pitchFamily="34" charset="0"/>
              </a:rPr>
              <a:t> </a:t>
            </a:r>
            <a:r>
              <a:rPr lang="en-US" altLang="en-US" sz="2000" dirty="0" err="1">
                <a:latin typeface="Noto Sans" panose="020B0502040504020204" pitchFamily="34" charset="0"/>
                <a:ea typeface="Noto Sans" panose="020B0502040504020204" pitchFamily="34" charset="0"/>
                <a:cs typeface="Noto Sans" panose="020B0502040504020204" pitchFamily="34" charset="0"/>
              </a:rPr>
              <a:t>mô</a:t>
            </a:r>
            <a:r>
              <a:rPr lang="en-US" altLang="en-US" sz="2000" dirty="0">
                <a:latin typeface="Noto Sans" panose="020B0502040504020204" pitchFamily="34" charset="0"/>
                <a:ea typeface="Noto Sans" panose="020B0502040504020204" pitchFamily="34" charset="0"/>
                <a:cs typeface="Noto Sans" panose="020B0502040504020204" pitchFamily="34" charset="0"/>
              </a:rPr>
              <a:t> </a:t>
            </a:r>
            <a:r>
              <a:rPr lang="en-US" altLang="en-US" sz="2000" dirty="0" err="1">
                <a:latin typeface="Noto Sans" panose="020B0502040504020204" pitchFamily="34" charset="0"/>
                <a:ea typeface="Noto Sans" panose="020B0502040504020204" pitchFamily="34" charset="0"/>
                <a:cs typeface="Noto Sans" panose="020B0502040504020204" pitchFamily="34" charset="0"/>
              </a:rPr>
              <a:t>hình</a:t>
            </a:r>
            <a:r>
              <a:rPr lang="en-US" altLang="en-US" sz="2000" dirty="0">
                <a:latin typeface="Noto Sans" panose="020B0502040504020204" pitchFamily="34" charset="0"/>
                <a:ea typeface="Noto Sans" panose="020B0502040504020204" pitchFamily="34" charset="0"/>
                <a:cs typeface="Noto Sans" panose="020B0502040504020204" pitchFamily="34" charset="0"/>
              </a:rPr>
              <a:t>:</a:t>
            </a: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lvl="0" eaLnBrk="0" fontAlgn="base" hangingPunct="0">
              <a:lnSpc>
                <a:spcPct val="150000"/>
              </a:lnSpc>
              <a:spcBef>
                <a:spcPct val="0"/>
              </a:spcBef>
              <a:spcAft>
                <a:spcPct val="0"/>
              </a:spcAft>
              <a:buFontTx/>
              <a:buChar char="•"/>
            </a:pPr>
            <a:r>
              <a:rPr lang="en-US" sz="2000" b="1" dirty="0">
                <a:latin typeface="Noto Sans" panose="020B0502040504020204" pitchFamily="34" charset="0"/>
                <a:ea typeface="Noto Sans" panose="020B0502040504020204" pitchFamily="34" charset="0"/>
                <a:cs typeface="Noto Sans" panose="020B0502040504020204" pitchFamily="34" charset="0"/>
              </a:rPr>
              <a:t>Accuracy &amp; Loss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Theo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dõi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sự</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thay</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đổi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Accuracy</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độ</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chính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xác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Loss</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mức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sai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lệch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trên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cả</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tập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huấn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luyện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tập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kiểm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định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trận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nhầm</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lẫn</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(Confusion Matrix):</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Tổng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hợp</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kết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quả</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dự</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đoán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đúng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sai</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cho</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từng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nhóm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để</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xác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định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xu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hướng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nhầm</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lẫn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mô</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Đường</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1"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cong</a:t>
            </a:r>
            <a:r>
              <a:rPr kumimoji="0" lang="en-US" altLang="en-US" sz="2000" b="1"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ROC: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Xây</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dựng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biểu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biểu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thị</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khả</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năng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phân</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biệt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giữa</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ảnh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bình</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thường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và</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bất</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thường</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ở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nhiều</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mức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độ</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nhạy</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khác</a:t>
            </a:r>
            <a:r>
              <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kumimoji="0" lang="en-US" altLang="en-US" sz="2000" b="0" i="0" u="none" strike="noStrike" cap="none" normalizeH="0" baseline="0" dirty="0" err="1">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nhau</a:t>
            </a: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764649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fontScale="85000" lnSpcReduction="10000"/>
          </a:bodyPr>
          <a:lstStyle/>
          <a:p>
            <a:pPr algn="dist"/>
            <a:r>
              <a:rPr kumimoji="1" lang="en-US" altLang="vi-VN" sz="5400" b="1" dirty="0">
                <a:solidFill>
                  <a:schemeClr val="tx1">
                    <a:lumMod val="75000"/>
                    <a:lumOff val="25000"/>
                  </a:schemeClr>
                </a:solidFill>
                <a:latin typeface="Noto Sans"/>
                <a:ea typeface="Noto Sans"/>
              </a:rPr>
              <a:t>KẾT QUẢ THỰC NGHIỆM</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5</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245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F505AB1-DED9-4C12-BF5C-37A26811C01E}"/>
              </a:ext>
            </a:extLst>
          </p:cNvPr>
          <p:cNvSpPr txBox="1"/>
          <p:nvPr/>
        </p:nvSpPr>
        <p:spPr>
          <a:xfrm>
            <a:off x="633254" y="877332"/>
            <a:ext cx="10925492" cy="665598"/>
          </a:xfrm>
          <a:prstGeom prst="rect">
            <a:avLst/>
          </a:prstGeom>
          <a:noFill/>
        </p:spPr>
        <p:txBody>
          <a:bodyPr wrap="square">
            <a:normAutofit/>
          </a:bodyPr>
          <a:lstStyle/>
          <a:p>
            <a:pPr>
              <a:lnSpc>
                <a:spcPct val="120000"/>
              </a:lnSpc>
            </a:pPr>
            <a:r>
              <a:rPr lang="vi-VN" altLang="vi-VN" sz="2000" dirty="0">
                <a:latin typeface="Noto Sans"/>
                <a:ea typeface="Noto Sans"/>
              </a:rPr>
              <a:t>1. </a:t>
            </a:r>
            <a:r>
              <a:rPr lang="en-US" altLang="vi-VN" sz="2000" dirty="0" err="1">
                <a:latin typeface="Noto Sans"/>
                <a:ea typeface="Noto Sans"/>
              </a:rPr>
              <a:t>Đánh</a:t>
            </a:r>
            <a:r>
              <a:rPr lang="en-US" altLang="vi-VN" sz="2000" dirty="0">
                <a:latin typeface="Noto Sans"/>
                <a:ea typeface="Noto Sans"/>
              </a:rPr>
              <a:t> </a:t>
            </a:r>
            <a:r>
              <a:rPr lang="en-US" altLang="vi-VN" sz="2000" dirty="0" err="1">
                <a:latin typeface="Noto Sans"/>
                <a:ea typeface="Noto Sans"/>
              </a:rPr>
              <a:t>giá</a:t>
            </a:r>
            <a:r>
              <a:rPr lang="en-US" altLang="vi-VN" sz="2000" dirty="0">
                <a:latin typeface="Noto Sans"/>
                <a:ea typeface="Noto Sans"/>
              </a:rPr>
              <a:t> </a:t>
            </a:r>
            <a:r>
              <a:rPr lang="en-US" altLang="vi-VN" sz="2000" dirty="0" err="1">
                <a:latin typeface="Noto Sans"/>
                <a:ea typeface="Noto Sans"/>
              </a:rPr>
              <a:t>chỉ</a:t>
            </a:r>
            <a:r>
              <a:rPr lang="en-US" altLang="vi-VN" sz="2000" dirty="0">
                <a:latin typeface="Noto Sans"/>
                <a:ea typeface="Noto Sans"/>
              </a:rPr>
              <a:t> </a:t>
            </a:r>
            <a:r>
              <a:rPr lang="en-US" altLang="vi-VN" sz="2000" dirty="0" err="1">
                <a:latin typeface="Noto Sans"/>
                <a:ea typeface="Noto Sans"/>
              </a:rPr>
              <a:t>số</a:t>
            </a:r>
            <a:endParaRPr lang="vi-VN" altLang="vi-VN" sz="2000" dirty="0">
              <a:latin typeface="Noto Sans"/>
              <a:ea typeface="Noto Sans"/>
            </a:endParaRPr>
          </a:p>
        </p:txBody>
      </p:sp>
      <p:sp>
        <p:nvSpPr>
          <p:cNvPr id="21" name="文本框 20">
            <a:extLst>
              <a:ext uri="{FF2B5EF4-FFF2-40B4-BE49-F238E27FC236}">
                <a16:creationId xmlns:a16="http://schemas.microsoft.com/office/drawing/2014/main" id="{61613676-BCE6-154D-B253-F61DE66AABD8}"/>
              </a:ext>
            </a:extLst>
          </p:cNvPr>
          <p:cNvSpPr txBox="1"/>
          <p:nvPr/>
        </p:nvSpPr>
        <p:spPr>
          <a:xfrm>
            <a:off x="1130197" y="180990"/>
            <a:ext cx="2578548" cy="415595"/>
          </a:xfrm>
          <a:prstGeom prst="rect">
            <a:avLst/>
          </a:prstGeom>
          <a:noFill/>
        </p:spPr>
        <p:txBody>
          <a:bodyPr wrap="none" rtlCol="0">
            <a:normAutofit/>
          </a:bodyPr>
          <a:lstStyle/>
          <a:p>
            <a:r>
              <a:rPr kumimoji="1" lang="vi-VN" altLang="vi-VN" sz="2100" b="1">
                <a:solidFill>
                  <a:srgbClr val="24325B"/>
                </a:solidFill>
                <a:latin typeface="Noto Sans"/>
                <a:ea typeface="Noto Sans"/>
              </a:rPr>
              <a:t>Quy định xử lý tai</a:t>
            </a:r>
          </a:p>
        </p:txBody>
      </p:sp>
      <p:pic>
        <p:nvPicPr>
          <p:cNvPr id="7" name="Picture 6">
            <a:extLst>
              <a:ext uri="{FF2B5EF4-FFF2-40B4-BE49-F238E27FC236}">
                <a16:creationId xmlns:a16="http://schemas.microsoft.com/office/drawing/2014/main" id="{877B298D-5B5C-A31A-0418-893A510C0212}"/>
              </a:ext>
            </a:extLst>
          </p:cNvPr>
          <p:cNvPicPr>
            <a:picLocks noChangeAspect="1"/>
          </p:cNvPicPr>
          <p:nvPr/>
        </p:nvPicPr>
        <p:blipFill>
          <a:blip r:embed="rId2"/>
          <a:srcRect t="1634" r="68401"/>
          <a:stretch/>
        </p:blipFill>
        <p:spPr>
          <a:xfrm>
            <a:off x="2799533" y="1866901"/>
            <a:ext cx="5315767" cy="3665308"/>
          </a:xfrm>
          <a:prstGeom prst="rect">
            <a:avLst/>
          </a:prstGeom>
        </p:spPr>
      </p:pic>
      <p:sp>
        <p:nvSpPr>
          <p:cNvPr id="12" name="TextBox 11">
            <a:extLst>
              <a:ext uri="{FF2B5EF4-FFF2-40B4-BE49-F238E27FC236}">
                <a16:creationId xmlns:a16="http://schemas.microsoft.com/office/drawing/2014/main" id="{F3391096-A30E-AA37-ADB1-C6BB6093BF32}"/>
              </a:ext>
            </a:extLst>
          </p:cNvPr>
          <p:cNvSpPr txBox="1"/>
          <p:nvPr/>
        </p:nvSpPr>
        <p:spPr>
          <a:xfrm>
            <a:off x="933450" y="1387580"/>
            <a:ext cx="10096500" cy="646331"/>
          </a:xfrm>
          <a:prstGeom prst="rect">
            <a:avLst/>
          </a:prstGeom>
          <a:noFill/>
        </p:spPr>
        <p:txBody>
          <a:bodyPr wrap="square">
            <a:spAutoFit/>
          </a:bodyPr>
          <a:lstStyle/>
          <a:p>
            <a:r>
              <a:rPr lang="vi-VN" dirty="0">
                <a:latin typeface="Noto Sans" panose="020B0502040504020204" pitchFamily="34" charset="0"/>
                <a:ea typeface="Noto Sans" panose="020B0502040504020204" pitchFamily="34" charset="0"/>
                <a:cs typeface="Noto Sans" panose="020B0502040504020204" pitchFamily="34" charset="0"/>
              </a:rPr>
              <a:t>Dựa trên kết quả thực nghiệm, mô hình VGG16 cải tiến cho thấy sự vượt trội rõ rệt ở hầu hết các chỉ số</a:t>
            </a:r>
            <a:endParaRPr lang="en-US" dirty="0">
              <a:latin typeface="Noto Sans" panose="020B0502040504020204" pitchFamily="34" charset="0"/>
              <a:ea typeface="Noto Sans" panose="020B0502040504020204" pitchFamily="34" charset="0"/>
              <a:cs typeface="Noto Sans" panose="020B0502040504020204" pitchFamily="34" charset="0"/>
            </a:endParaRPr>
          </a:p>
        </p:txBody>
      </p:sp>
      <p:sp>
        <p:nvSpPr>
          <p:cNvPr id="16" name="TextBox 15">
            <a:extLst>
              <a:ext uri="{FF2B5EF4-FFF2-40B4-BE49-F238E27FC236}">
                <a16:creationId xmlns:a16="http://schemas.microsoft.com/office/drawing/2014/main" id="{373BD5A9-019F-A9A2-46FD-8AE3B10992AD}"/>
              </a:ext>
            </a:extLst>
          </p:cNvPr>
          <p:cNvSpPr txBox="1"/>
          <p:nvPr/>
        </p:nvSpPr>
        <p:spPr>
          <a:xfrm>
            <a:off x="781050" y="5723938"/>
            <a:ext cx="11125200" cy="923330"/>
          </a:xfrm>
          <a:prstGeom prst="rect">
            <a:avLst/>
          </a:prstGeom>
          <a:noFill/>
        </p:spPr>
        <p:txBody>
          <a:bodyPr wrap="square">
            <a:spAutoFit/>
          </a:bodyPr>
          <a:lstStyle/>
          <a:p>
            <a:r>
              <a:rPr lang="vi-VN" b="1" dirty="0">
                <a:latin typeface="Noto Sans" panose="020B0502040504020204" pitchFamily="34" charset="0"/>
                <a:ea typeface="Noto Sans" panose="020B0502040504020204" pitchFamily="34" charset="0"/>
                <a:cs typeface="Noto Sans" panose="020B0502040504020204" pitchFamily="34" charset="0"/>
              </a:rPr>
              <a:t>Nhận xét:</a:t>
            </a:r>
            <a:r>
              <a:rPr lang="vi-VN" dirty="0">
                <a:latin typeface="Noto Sans" panose="020B0502040504020204" pitchFamily="34" charset="0"/>
                <a:ea typeface="Noto Sans" panose="020B0502040504020204" pitchFamily="34" charset="0"/>
                <a:cs typeface="Noto Sans" panose="020B0502040504020204" pitchFamily="34" charset="0"/>
              </a:rPr>
              <a:t> Mô hình VGG16 cải tiến không chỉ giữ được độ chính xác cao mà còn cải thiện rõ rệt kết quả, đặc biệt là F1-score tăng từ 97.86% lên 98.87%, cho thấy mô hình dự đoán tốt hơn và hạn chế bỏ sót ảnh bệnh so với mô hình ban đầu.</a:t>
            </a:r>
            <a:endParaRPr lang="en-US" dirty="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F505AB1-DED9-4C12-BF5C-37A26811C01E}"/>
              </a:ext>
            </a:extLst>
          </p:cNvPr>
          <p:cNvSpPr txBox="1"/>
          <p:nvPr/>
        </p:nvSpPr>
        <p:spPr>
          <a:xfrm>
            <a:off x="633254" y="877332"/>
            <a:ext cx="10925492" cy="665598"/>
          </a:xfrm>
          <a:prstGeom prst="rect">
            <a:avLst/>
          </a:prstGeom>
          <a:noFill/>
        </p:spPr>
        <p:txBody>
          <a:bodyPr wrap="square">
            <a:normAutofit/>
          </a:bodyPr>
          <a:lstStyle/>
          <a:p>
            <a:pPr>
              <a:lnSpc>
                <a:spcPct val="120000"/>
              </a:lnSpc>
            </a:pPr>
            <a:r>
              <a:rPr lang="en-US" altLang="vi-VN" sz="2000" dirty="0">
                <a:latin typeface="Noto Sans"/>
                <a:ea typeface="Noto Sans"/>
              </a:rPr>
              <a:t>2</a:t>
            </a:r>
            <a:r>
              <a:rPr lang="vi-VN" altLang="vi-VN" sz="2000" dirty="0">
                <a:latin typeface="Noto Sans"/>
                <a:ea typeface="Noto Sans"/>
              </a:rPr>
              <a:t>. </a:t>
            </a:r>
            <a:r>
              <a:rPr lang="en-US" sz="2000" dirty="0">
                <a:latin typeface="Noto Sans" panose="020B0502040504020204" pitchFamily="34" charset="0"/>
                <a:ea typeface="Noto Sans" panose="020B0502040504020204" pitchFamily="34" charset="0"/>
                <a:cs typeface="Noto Sans" panose="020B0502040504020204" pitchFamily="34" charset="0"/>
              </a:rPr>
              <a:t>Accuracy &amp; Loss </a:t>
            </a:r>
            <a:endParaRPr lang="vi-VN" altLang="vi-VN" sz="2000" dirty="0">
              <a:latin typeface="Noto Sans"/>
              <a:ea typeface="Noto Sans"/>
            </a:endParaRPr>
          </a:p>
        </p:txBody>
      </p:sp>
      <p:sp>
        <p:nvSpPr>
          <p:cNvPr id="21" name="文本框 20">
            <a:extLst>
              <a:ext uri="{FF2B5EF4-FFF2-40B4-BE49-F238E27FC236}">
                <a16:creationId xmlns:a16="http://schemas.microsoft.com/office/drawing/2014/main" id="{61613676-BCE6-154D-B253-F61DE66AABD8}"/>
              </a:ext>
            </a:extLst>
          </p:cNvPr>
          <p:cNvSpPr txBox="1"/>
          <p:nvPr/>
        </p:nvSpPr>
        <p:spPr>
          <a:xfrm>
            <a:off x="1130197" y="180990"/>
            <a:ext cx="2578548" cy="415595"/>
          </a:xfrm>
          <a:prstGeom prst="rect">
            <a:avLst/>
          </a:prstGeom>
          <a:noFill/>
        </p:spPr>
        <p:txBody>
          <a:bodyPr wrap="none" rtlCol="0">
            <a:normAutofit/>
          </a:bodyPr>
          <a:lstStyle/>
          <a:p>
            <a:r>
              <a:rPr kumimoji="1" lang="vi-VN" altLang="vi-VN" sz="2100" b="1">
                <a:solidFill>
                  <a:srgbClr val="24325B"/>
                </a:solidFill>
                <a:latin typeface="Noto Sans"/>
                <a:ea typeface="Noto Sans"/>
              </a:rPr>
              <a:t>Quy định xử lý tai</a:t>
            </a:r>
          </a:p>
        </p:txBody>
      </p:sp>
      <p:sp>
        <p:nvSpPr>
          <p:cNvPr id="16" name="TextBox 15">
            <a:extLst>
              <a:ext uri="{FF2B5EF4-FFF2-40B4-BE49-F238E27FC236}">
                <a16:creationId xmlns:a16="http://schemas.microsoft.com/office/drawing/2014/main" id="{373BD5A9-019F-A9A2-46FD-8AE3B10992AD}"/>
              </a:ext>
            </a:extLst>
          </p:cNvPr>
          <p:cNvSpPr txBox="1"/>
          <p:nvPr/>
        </p:nvSpPr>
        <p:spPr>
          <a:xfrm>
            <a:off x="781050" y="5723938"/>
            <a:ext cx="11125200" cy="923330"/>
          </a:xfrm>
          <a:prstGeom prst="rect">
            <a:avLst/>
          </a:prstGeom>
          <a:noFill/>
        </p:spPr>
        <p:txBody>
          <a:bodyPr wrap="square">
            <a:spAutoFit/>
          </a:bodyPr>
          <a:lstStyle/>
          <a:p>
            <a:r>
              <a:rPr lang="vi-VN" b="1" dirty="0">
                <a:latin typeface="Noto Sans" panose="020B0502040504020204" pitchFamily="34" charset="0"/>
                <a:ea typeface="Noto Sans" panose="020B0502040504020204" pitchFamily="34" charset="0"/>
                <a:cs typeface="Noto Sans" panose="020B0502040504020204" pitchFamily="34" charset="0"/>
              </a:rPr>
              <a:t>Nhận xét:</a:t>
            </a:r>
            <a:r>
              <a:rPr lang="vi-VN" dirty="0">
                <a:latin typeface="Noto Sans" panose="020B0502040504020204" pitchFamily="34" charset="0"/>
                <a:ea typeface="Noto Sans" panose="020B0502040504020204" pitchFamily="34" charset="0"/>
                <a:cs typeface="Noto Sans" panose="020B0502040504020204" pitchFamily="34" charset="0"/>
              </a:rPr>
              <a:t> </a:t>
            </a:r>
            <a:r>
              <a:rPr lang="vi-VN" dirty="0"/>
              <a:t>Qua các epoch, VGG16 cải tiến học nhanh hơn và ổn định hơn so với mô hình gốc.</a:t>
            </a:r>
            <a:br>
              <a:rPr lang="vi-VN" dirty="0"/>
            </a:br>
            <a:r>
              <a:rPr lang="vi-VN" dirty="0"/>
              <a:t>Độ chính xác của mô hình cải tiến cao và ổn định, trong khi Loss giảm đều và thấp hơn, cho thấy mô hình hoạt động tốt và ít sai hơn trong quá trình huấn luyện.</a:t>
            </a:r>
            <a:endParaRPr lang="en-US" dirty="0">
              <a:latin typeface="Noto Sans" panose="020B0502040504020204" pitchFamily="34" charset="0"/>
              <a:ea typeface="Noto Sans" panose="020B0502040504020204" pitchFamily="34" charset="0"/>
              <a:cs typeface="Noto Sans" panose="020B0502040504020204" pitchFamily="34" charset="0"/>
            </a:endParaRPr>
          </a:p>
        </p:txBody>
      </p:sp>
      <p:pic>
        <p:nvPicPr>
          <p:cNvPr id="3" name="Picture 2">
            <a:extLst>
              <a:ext uri="{FF2B5EF4-FFF2-40B4-BE49-F238E27FC236}">
                <a16:creationId xmlns:a16="http://schemas.microsoft.com/office/drawing/2014/main" id="{2B7E3FC3-F931-EEF6-1890-70590258F88F}"/>
              </a:ext>
            </a:extLst>
          </p:cNvPr>
          <p:cNvPicPr>
            <a:picLocks noChangeAspect="1"/>
          </p:cNvPicPr>
          <p:nvPr/>
        </p:nvPicPr>
        <p:blipFill>
          <a:blip r:embed="rId2"/>
          <a:stretch>
            <a:fillRect/>
          </a:stretch>
        </p:blipFill>
        <p:spPr>
          <a:xfrm>
            <a:off x="781050" y="1279693"/>
            <a:ext cx="10314837" cy="4298614"/>
          </a:xfrm>
          <a:prstGeom prst="rect">
            <a:avLst/>
          </a:prstGeom>
        </p:spPr>
      </p:pic>
    </p:spTree>
    <p:extLst>
      <p:ext uri="{BB962C8B-B14F-4D97-AF65-F5344CB8AC3E}">
        <p14:creationId xmlns:p14="http://schemas.microsoft.com/office/powerpoint/2010/main" val="3780033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F505AB1-DED9-4C12-BF5C-37A26811C01E}"/>
              </a:ext>
            </a:extLst>
          </p:cNvPr>
          <p:cNvSpPr txBox="1"/>
          <p:nvPr/>
        </p:nvSpPr>
        <p:spPr>
          <a:xfrm>
            <a:off x="633254" y="877332"/>
            <a:ext cx="10925492" cy="665598"/>
          </a:xfrm>
          <a:prstGeom prst="rect">
            <a:avLst/>
          </a:prstGeom>
          <a:noFill/>
        </p:spPr>
        <p:txBody>
          <a:bodyPr wrap="square">
            <a:normAutofit/>
          </a:bodyPr>
          <a:lstStyle/>
          <a:p>
            <a:pPr>
              <a:lnSpc>
                <a:spcPct val="120000"/>
              </a:lnSpc>
            </a:pPr>
            <a:r>
              <a:rPr lang="en-US" altLang="vi-VN" sz="2000" dirty="0">
                <a:latin typeface="Noto Sans"/>
                <a:ea typeface="Noto Sans"/>
              </a:rPr>
              <a:t>3</a:t>
            </a:r>
            <a:r>
              <a:rPr lang="vi-VN" altLang="vi-VN" sz="2000" dirty="0">
                <a:latin typeface="Noto Sans"/>
                <a:ea typeface="Noto Sans"/>
              </a:rPr>
              <a:t>. </a:t>
            </a:r>
            <a:r>
              <a:rPr lang="en-US" sz="2000" dirty="0">
                <a:latin typeface="Noto Sans" panose="020B0502040504020204" pitchFamily="34" charset="0"/>
                <a:ea typeface="Noto Sans" panose="020B0502040504020204" pitchFamily="34" charset="0"/>
                <a:cs typeface="Noto Sans" panose="020B0502040504020204" pitchFamily="34" charset="0"/>
              </a:rPr>
              <a:t>ROC &amp; AUC</a:t>
            </a:r>
            <a:endParaRPr lang="vi-VN" altLang="vi-VN" sz="2000" dirty="0">
              <a:latin typeface="Noto Sans"/>
              <a:ea typeface="Noto Sans"/>
            </a:endParaRPr>
          </a:p>
        </p:txBody>
      </p:sp>
      <p:sp>
        <p:nvSpPr>
          <p:cNvPr id="21" name="文本框 20">
            <a:extLst>
              <a:ext uri="{FF2B5EF4-FFF2-40B4-BE49-F238E27FC236}">
                <a16:creationId xmlns:a16="http://schemas.microsoft.com/office/drawing/2014/main" id="{61613676-BCE6-154D-B253-F61DE66AABD8}"/>
              </a:ext>
            </a:extLst>
          </p:cNvPr>
          <p:cNvSpPr txBox="1"/>
          <p:nvPr/>
        </p:nvSpPr>
        <p:spPr>
          <a:xfrm>
            <a:off x="1130197" y="180990"/>
            <a:ext cx="2578548" cy="415595"/>
          </a:xfrm>
          <a:prstGeom prst="rect">
            <a:avLst/>
          </a:prstGeom>
          <a:noFill/>
        </p:spPr>
        <p:txBody>
          <a:bodyPr wrap="none" rtlCol="0">
            <a:normAutofit/>
          </a:bodyPr>
          <a:lstStyle/>
          <a:p>
            <a:r>
              <a:rPr kumimoji="1" lang="vi-VN" altLang="vi-VN" sz="2100" b="1">
                <a:solidFill>
                  <a:srgbClr val="24325B"/>
                </a:solidFill>
                <a:latin typeface="Noto Sans"/>
                <a:ea typeface="Noto Sans"/>
              </a:rPr>
              <a:t>Quy định xử lý tai</a:t>
            </a:r>
          </a:p>
        </p:txBody>
      </p:sp>
      <p:sp>
        <p:nvSpPr>
          <p:cNvPr id="16" name="TextBox 15">
            <a:extLst>
              <a:ext uri="{FF2B5EF4-FFF2-40B4-BE49-F238E27FC236}">
                <a16:creationId xmlns:a16="http://schemas.microsoft.com/office/drawing/2014/main" id="{373BD5A9-019F-A9A2-46FD-8AE3B10992AD}"/>
              </a:ext>
            </a:extLst>
          </p:cNvPr>
          <p:cNvSpPr txBox="1"/>
          <p:nvPr/>
        </p:nvSpPr>
        <p:spPr>
          <a:xfrm>
            <a:off x="781050" y="5695802"/>
            <a:ext cx="11125200" cy="923330"/>
          </a:xfrm>
          <a:prstGeom prst="rect">
            <a:avLst/>
          </a:prstGeom>
          <a:noFill/>
        </p:spPr>
        <p:txBody>
          <a:bodyPr wrap="square">
            <a:spAutoFit/>
          </a:bodyPr>
          <a:lstStyle/>
          <a:p>
            <a:r>
              <a:rPr lang="vi-VN" b="1" dirty="0">
                <a:latin typeface="Noto Sans" panose="020B0502040504020204" pitchFamily="34" charset="0"/>
                <a:ea typeface="Noto Sans" panose="020B0502040504020204" pitchFamily="34" charset="0"/>
                <a:cs typeface="Noto Sans" panose="020B0502040504020204" pitchFamily="34" charset="0"/>
              </a:rPr>
              <a:t>Nhận xét:</a:t>
            </a:r>
            <a:r>
              <a:rPr lang="vi-VN" dirty="0">
                <a:latin typeface="Noto Sans" panose="020B0502040504020204" pitchFamily="34" charset="0"/>
                <a:ea typeface="Noto Sans" panose="020B0502040504020204" pitchFamily="34" charset="0"/>
                <a:cs typeface="Noto Sans" panose="020B0502040504020204" pitchFamily="34" charset="0"/>
              </a:rPr>
              <a:t> </a:t>
            </a:r>
            <a:r>
              <a:rPr lang="vi-VN" dirty="0"/>
              <a:t>Cả hai mô hình đều phân biệt rất tốt giữa ảnh bình thường và ảnh bệnh, thể hiện qua đường ROC bám sát góc trên bên trái và AUC đạt 1.00.</a:t>
            </a:r>
            <a:br>
              <a:rPr lang="vi-VN" dirty="0"/>
            </a:br>
            <a:r>
              <a:rPr lang="vi-VN" dirty="0"/>
              <a:t>Điều này cho thấy mô hình hoạt động rất hiệu quả và gần như không nhầm lẫn giữa hai lớp ảnh.</a:t>
            </a:r>
            <a:endParaRPr lang="en-US" dirty="0">
              <a:latin typeface="Noto Sans" panose="020B0502040504020204" pitchFamily="34" charset="0"/>
              <a:ea typeface="Noto Sans" panose="020B0502040504020204" pitchFamily="34" charset="0"/>
              <a:cs typeface="Noto Sans" panose="020B0502040504020204" pitchFamily="34" charset="0"/>
            </a:endParaRPr>
          </a:p>
        </p:txBody>
      </p:sp>
      <p:pic>
        <p:nvPicPr>
          <p:cNvPr id="5" name="Picture 4">
            <a:extLst>
              <a:ext uri="{FF2B5EF4-FFF2-40B4-BE49-F238E27FC236}">
                <a16:creationId xmlns:a16="http://schemas.microsoft.com/office/drawing/2014/main" id="{32BC946D-E867-1820-69DE-9D330A59E06E}"/>
              </a:ext>
            </a:extLst>
          </p:cNvPr>
          <p:cNvPicPr>
            <a:picLocks noChangeAspect="1"/>
          </p:cNvPicPr>
          <p:nvPr/>
        </p:nvPicPr>
        <p:blipFill>
          <a:blip r:embed="rId2"/>
          <a:stretch>
            <a:fillRect/>
          </a:stretch>
        </p:blipFill>
        <p:spPr>
          <a:xfrm>
            <a:off x="3221501" y="1210131"/>
            <a:ext cx="5127893" cy="4265432"/>
          </a:xfrm>
          <a:prstGeom prst="rect">
            <a:avLst/>
          </a:prstGeom>
        </p:spPr>
      </p:pic>
    </p:spTree>
    <p:extLst>
      <p:ext uri="{BB962C8B-B14F-4D97-AF65-F5344CB8AC3E}">
        <p14:creationId xmlns:p14="http://schemas.microsoft.com/office/powerpoint/2010/main" val="9102056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F505AB1-DED9-4C12-BF5C-37A26811C01E}"/>
              </a:ext>
            </a:extLst>
          </p:cNvPr>
          <p:cNvSpPr txBox="1"/>
          <p:nvPr/>
        </p:nvSpPr>
        <p:spPr>
          <a:xfrm>
            <a:off x="633254" y="877332"/>
            <a:ext cx="10925492" cy="665598"/>
          </a:xfrm>
          <a:prstGeom prst="rect">
            <a:avLst/>
          </a:prstGeom>
          <a:noFill/>
        </p:spPr>
        <p:txBody>
          <a:bodyPr wrap="square">
            <a:normAutofit/>
          </a:bodyPr>
          <a:lstStyle/>
          <a:p>
            <a:pPr>
              <a:lnSpc>
                <a:spcPct val="120000"/>
              </a:lnSpc>
            </a:pPr>
            <a:r>
              <a:rPr lang="en-US" altLang="vi-VN" sz="2000" dirty="0">
                <a:latin typeface="Noto Sans"/>
                <a:ea typeface="Noto Sans"/>
              </a:rPr>
              <a:t>4</a:t>
            </a:r>
            <a:r>
              <a:rPr lang="vi-VN" altLang="vi-VN" sz="2000" dirty="0">
                <a:latin typeface="Noto Sans"/>
                <a:ea typeface="Noto Sans"/>
              </a:rPr>
              <a:t>. </a:t>
            </a:r>
            <a:r>
              <a:rPr lang="en-US" sz="2000" dirty="0">
                <a:latin typeface="Noto Sans" panose="020B0502040504020204" pitchFamily="34" charset="0"/>
                <a:ea typeface="Noto Sans" panose="020B0502040504020204" pitchFamily="34" charset="0"/>
                <a:cs typeface="Noto Sans" panose="020B0502040504020204" pitchFamily="34" charset="0"/>
              </a:rPr>
              <a:t>CONFUSION MATRIX</a:t>
            </a:r>
            <a:endParaRPr lang="vi-VN" altLang="vi-VN" sz="2000" dirty="0">
              <a:latin typeface="Noto Sans"/>
              <a:ea typeface="Noto Sans"/>
            </a:endParaRPr>
          </a:p>
        </p:txBody>
      </p:sp>
      <p:sp>
        <p:nvSpPr>
          <p:cNvPr id="21" name="文本框 20">
            <a:extLst>
              <a:ext uri="{FF2B5EF4-FFF2-40B4-BE49-F238E27FC236}">
                <a16:creationId xmlns:a16="http://schemas.microsoft.com/office/drawing/2014/main" id="{61613676-BCE6-154D-B253-F61DE66AABD8}"/>
              </a:ext>
            </a:extLst>
          </p:cNvPr>
          <p:cNvSpPr txBox="1"/>
          <p:nvPr/>
        </p:nvSpPr>
        <p:spPr>
          <a:xfrm>
            <a:off x="1130197" y="180990"/>
            <a:ext cx="2578548" cy="415595"/>
          </a:xfrm>
          <a:prstGeom prst="rect">
            <a:avLst/>
          </a:prstGeom>
          <a:noFill/>
        </p:spPr>
        <p:txBody>
          <a:bodyPr wrap="none" rtlCol="0">
            <a:normAutofit/>
          </a:bodyPr>
          <a:lstStyle/>
          <a:p>
            <a:r>
              <a:rPr kumimoji="1" lang="vi-VN" altLang="vi-VN" sz="2100" b="1">
                <a:solidFill>
                  <a:srgbClr val="24325B"/>
                </a:solidFill>
                <a:latin typeface="Noto Sans"/>
                <a:ea typeface="Noto Sans"/>
              </a:rPr>
              <a:t>Quy định xử lý tai</a:t>
            </a:r>
          </a:p>
        </p:txBody>
      </p:sp>
      <p:sp>
        <p:nvSpPr>
          <p:cNvPr id="16" name="TextBox 15">
            <a:extLst>
              <a:ext uri="{FF2B5EF4-FFF2-40B4-BE49-F238E27FC236}">
                <a16:creationId xmlns:a16="http://schemas.microsoft.com/office/drawing/2014/main" id="{373BD5A9-019F-A9A2-46FD-8AE3B10992AD}"/>
              </a:ext>
            </a:extLst>
          </p:cNvPr>
          <p:cNvSpPr txBox="1"/>
          <p:nvPr/>
        </p:nvSpPr>
        <p:spPr>
          <a:xfrm>
            <a:off x="781050" y="5695802"/>
            <a:ext cx="11125200" cy="646331"/>
          </a:xfrm>
          <a:prstGeom prst="rect">
            <a:avLst/>
          </a:prstGeom>
          <a:noFill/>
        </p:spPr>
        <p:txBody>
          <a:bodyPr wrap="square">
            <a:spAutoFit/>
          </a:bodyPr>
          <a:lstStyle/>
          <a:p>
            <a:r>
              <a:rPr lang="vi-VN" b="1" dirty="0">
                <a:latin typeface="Noto Sans" panose="020B0502040504020204" pitchFamily="34" charset="0"/>
                <a:ea typeface="Noto Sans" panose="020B0502040504020204" pitchFamily="34" charset="0"/>
                <a:cs typeface="Noto Sans" panose="020B0502040504020204" pitchFamily="34" charset="0"/>
              </a:rPr>
              <a:t>Nhận xét:</a:t>
            </a:r>
            <a:r>
              <a:rPr lang="vi-VN" dirty="0">
                <a:latin typeface="Noto Sans" panose="020B0502040504020204" pitchFamily="34" charset="0"/>
                <a:ea typeface="Noto Sans" panose="020B0502040504020204" pitchFamily="34" charset="0"/>
                <a:cs typeface="Noto Sans" panose="020B0502040504020204" pitchFamily="34" charset="0"/>
              </a:rPr>
              <a:t> </a:t>
            </a:r>
            <a:r>
              <a:rPr lang="vi-VN" dirty="0"/>
              <a:t>Cả hai mô hình đều phát hiện bệnh lao rất tốt, tuy nhiên VGG16 cải tiến cho kết quả nhỉnh hơn khi giảm số ca nhầm người bình thường thành lao từ 5 xuống còn 3</a:t>
            </a:r>
            <a:r>
              <a:rPr lang="en-US" dirty="0"/>
              <a:t>.</a:t>
            </a:r>
            <a:endParaRPr lang="en-US" dirty="0">
              <a:latin typeface="Noto Sans" panose="020B0502040504020204" pitchFamily="34" charset="0"/>
              <a:ea typeface="Noto Sans" panose="020B0502040504020204" pitchFamily="34" charset="0"/>
              <a:cs typeface="Noto Sans" panose="020B0502040504020204" pitchFamily="34" charset="0"/>
            </a:endParaRPr>
          </a:p>
        </p:txBody>
      </p:sp>
      <p:pic>
        <p:nvPicPr>
          <p:cNvPr id="3" name="Picture 2">
            <a:extLst>
              <a:ext uri="{FF2B5EF4-FFF2-40B4-BE49-F238E27FC236}">
                <a16:creationId xmlns:a16="http://schemas.microsoft.com/office/drawing/2014/main" id="{499996F2-3109-CAEA-93BB-604EE62A0C0D}"/>
              </a:ext>
            </a:extLst>
          </p:cNvPr>
          <p:cNvPicPr>
            <a:picLocks noChangeAspect="1"/>
          </p:cNvPicPr>
          <p:nvPr/>
        </p:nvPicPr>
        <p:blipFill>
          <a:blip r:embed="rId2"/>
          <a:stretch>
            <a:fillRect/>
          </a:stretch>
        </p:blipFill>
        <p:spPr>
          <a:xfrm>
            <a:off x="1251861" y="1342734"/>
            <a:ext cx="9688277" cy="4172532"/>
          </a:xfrm>
          <a:prstGeom prst="rect">
            <a:avLst/>
          </a:prstGeom>
        </p:spPr>
      </p:pic>
    </p:spTree>
    <p:extLst>
      <p:ext uri="{BB962C8B-B14F-4D97-AF65-F5344CB8AC3E}">
        <p14:creationId xmlns:p14="http://schemas.microsoft.com/office/powerpoint/2010/main" val="15212912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F505AB1-DED9-4C12-BF5C-37A26811C01E}"/>
              </a:ext>
            </a:extLst>
          </p:cNvPr>
          <p:cNvSpPr txBox="1"/>
          <p:nvPr/>
        </p:nvSpPr>
        <p:spPr>
          <a:xfrm>
            <a:off x="633254" y="877332"/>
            <a:ext cx="10925492" cy="665598"/>
          </a:xfrm>
          <a:prstGeom prst="rect">
            <a:avLst/>
          </a:prstGeom>
          <a:noFill/>
        </p:spPr>
        <p:txBody>
          <a:bodyPr wrap="square">
            <a:normAutofit/>
          </a:bodyPr>
          <a:lstStyle/>
          <a:p>
            <a:pPr>
              <a:lnSpc>
                <a:spcPct val="120000"/>
              </a:lnSpc>
            </a:pPr>
            <a:r>
              <a:rPr lang="en-US" sz="2000" dirty="0" err="1">
                <a:latin typeface="Noto Sans" panose="020B0502040504020204" pitchFamily="34" charset="0"/>
                <a:ea typeface="Noto Sans" panose="020B0502040504020204" pitchFamily="34" charset="0"/>
                <a:cs typeface="Noto Sans" panose="020B0502040504020204" pitchFamily="34" charset="0"/>
              </a:rPr>
              <a:t>Thử</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nghiệm</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thực</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tế</a:t>
            </a:r>
            <a:endParaRPr lang="vi-VN" altLang="vi-VN" sz="2000" dirty="0">
              <a:latin typeface="Noto Sans" panose="020B0502040504020204" pitchFamily="34" charset="0"/>
              <a:ea typeface="Noto Sans" panose="020B0502040504020204" pitchFamily="34" charset="0"/>
              <a:cs typeface="Noto Sans" panose="020B0502040504020204" pitchFamily="34" charset="0"/>
            </a:endParaRPr>
          </a:p>
        </p:txBody>
      </p:sp>
      <p:sp>
        <p:nvSpPr>
          <p:cNvPr id="21" name="文本框 20">
            <a:extLst>
              <a:ext uri="{FF2B5EF4-FFF2-40B4-BE49-F238E27FC236}">
                <a16:creationId xmlns:a16="http://schemas.microsoft.com/office/drawing/2014/main" id="{61613676-BCE6-154D-B253-F61DE66AABD8}"/>
              </a:ext>
            </a:extLst>
          </p:cNvPr>
          <p:cNvSpPr txBox="1"/>
          <p:nvPr/>
        </p:nvSpPr>
        <p:spPr>
          <a:xfrm>
            <a:off x="1130197" y="180990"/>
            <a:ext cx="2578548" cy="415595"/>
          </a:xfrm>
          <a:prstGeom prst="rect">
            <a:avLst/>
          </a:prstGeom>
          <a:noFill/>
        </p:spPr>
        <p:txBody>
          <a:bodyPr wrap="none" rtlCol="0">
            <a:normAutofit/>
          </a:bodyPr>
          <a:lstStyle/>
          <a:p>
            <a:r>
              <a:rPr kumimoji="1" lang="vi-VN" altLang="vi-VN" sz="2100" b="1">
                <a:solidFill>
                  <a:srgbClr val="24325B"/>
                </a:solidFill>
                <a:latin typeface="Noto Sans"/>
                <a:ea typeface="Noto Sans"/>
              </a:rPr>
              <a:t>Quy định xử lý tai</a:t>
            </a:r>
          </a:p>
        </p:txBody>
      </p:sp>
      <p:pic>
        <p:nvPicPr>
          <p:cNvPr id="3" name="Picture 2">
            <a:extLst>
              <a:ext uri="{FF2B5EF4-FFF2-40B4-BE49-F238E27FC236}">
                <a16:creationId xmlns:a16="http://schemas.microsoft.com/office/drawing/2014/main" id="{43E60122-456B-8203-859D-C852BF4BD9A0}"/>
              </a:ext>
            </a:extLst>
          </p:cNvPr>
          <p:cNvPicPr>
            <a:picLocks noChangeAspect="1"/>
          </p:cNvPicPr>
          <p:nvPr/>
        </p:nvPicPr>
        <p:blipFill>
          <a:blip r:embed="rId2"/>
          <a:srcRect r="6079"/>
          <a:stretch/>
        </p:blipFill>
        <p:spPr>
          <a:xfrm>
            <a:off x="6838081" y="2158005"/>
            <a:ext cx="3476610" cy="3525343"/>
          </a:xfrm>
          <a:prstGeom prst="rect">
            <a:avLst/>
          </a:prstGeom>
        </p:spPr>
      </p:pic>
      <p:pic>
        <p:nvPicPr>
          <p:cNvPr id="5" name="Picture 4">
            <a:extLst>
              <a:ext uri="{FF2B5EF4-FFF2-40B4-BE49-F238E27FC236}">
                <a16:creationId xmlns:a16="http://schemas.microsoft.com/office/drawing/2014/main" id="{02D2B255-FE3A-4A5F-038F-B62FD4B0F2EE}"/>
              </a:ext>
            </a:extLst>
          </p:cNvPr>
          <p:cNvPicPr>
            <a:picLocks noChangeAspect="1"/>
          </p:cNvPicPr>
          <p:nvPr/>
        </p:nvPicPr>
        <p:blipFill>
          <a:blip r:embed="rId3"/>
          <a:stretch>
            <a:fillRect/>
          </a:stretch>
        </p:blipFill>
        <p:spPr>
          <a:xfrm>
            <a:off x="1130197" y="2158005"/>
            <a:ext cx="3582269" cy="3731053"/>
          </a:xfrm>
          <a:prstGeom prst="rect">
            <a:avLst/>
          </a:prstGeom>
        </p:spPr>
      </p:pic>
      <p:sp>
        <p:nvSpPr>
          <p:cNvPr id="8" name="文本框 5">
            <a:extLst>
              <a:ext uri="{FF2B5EF4-FFF2-40B4-BE49-F238E27FC236}">
                <a16:creationId xmlns:a16="http://schemas.microsoft.com/office/drawing/2014/main" id="{F3DE7A1E-B987-6CE5-7ED8-57AFEB0D3785}"/>
              </a:ext>
            </a:extLst>
          </p:cNvPr>
          <p:cNvSpPr txBox="1"/>
          <p:nvPr/>
        </p:nvSpPr>
        <p:spPr>
          <a:xfrm>
            <a:off x="1520527" y="1542930"/>
            <a:ext cx="2801608" cy="665598"/>
          </a:xfrm>
          <a:prstGeom prst="rect">
            <a:avLst/>
          </a:prstGeom>
          <a:noFill/>
        </p:spPr>
        <p:txBody>
          <a:bodyPr wrap="square">
            <a:normAutofit/>
          </a:bodyPr>
          <a:lstStyle/>
          <a:p>
            <a:pPr>
              <a:lnSpc>
                <a:spcPct val="120000"/>
              </a:lnSpc>
            </a:pPr>
            <a:r>
              <a:rPr lang="en-US" sz="2000" dirty="0" err="1">
                <a:latin typeface="Noto Sans" panose="020B0502040504020204" pitchFamily="34" charset="0"/>
                <a:ea typeface="Noto Sans" panose="020B0502040504020204" pitchFamily="34" charset="0"/>
                <a:cs typeface="Noto Sans" panose="020B0502040504020204" pitchFamily="34" charset="0"/>
              </a:rPr>
              <a:t>Dự</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đoán</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ảnh</a:t>
            </a:r>
            <a:r>
              <a:rPr lang="en-US" sz="2000" dirty="0">
                <a:latin typeface="Noto Sans" panose="020B0502040504020204" pitchFamily="34" charset="0"/>
                <a:ea typeface="Noto Sans" panose="020B0502040504020204" pitchFamily="34" charset="0"/>
                <a:cs typeface="Noto Sans" panose="020B0502040504020204" pitchFamily="34" charset="0"/>
              </a:rPr>
              <a:t> Normal</a:t>
            </a:r>
            <a:endParaRPr lang="vi-VN" altLang="vi-VN" sz="200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文本框 5">
            <a:extLst>
              <a:ext uri="{FF2B5EF4-FFF2-40B4-BE49-F238E27FC236}">
                <a16:creationId xmlns:a16="http://schemas.microsoft.com/office/drawing/2014/main" id="{F3D60E92-0ED7-7E32-9CE3-960B765D2DA2}"/>
              </a:ext>
            </a:extLst>
          </p:cNvPr>
          <p:cNvSpPr txBox="1"/>
          <p:nvPr/>
        </p:nvSpPr>
        <p:spPr>
          <a:xfrm>
            <a:off x="6950581" y="1552482"/>
            <a:ext cx="3251610" cy="665598"/>
          </a:xfrm>
          <a:prstGeom prst="rect">
            <a:avLst/>
          </a:prstGeom>
          <a:noFill/>
        </p:spPr>
        <p:txBody>
          <a:bodyPr wrap="square">
            <a:normAutofit fontScale="92500"/>
          </a:bodyPr>
          <a:lstStyle/>
          <a:p>
            <a:pPr>
              <a:lnSpc>
                <a:spcPct val="120000"/>
              </a:lnSpc>
            </a:pPr>
            <a:r>
              <a:rPr lang="en-US" sz="2000" dirty="0" err="1">
                <a:latin typeface="Noto Sans" panose="020B0502040504020204" pitchFamily="34" charset="0"/>
                <a:ea typeface="Noto Sans" panose="020B0502040504020204" pitchFamily="34" charset="0"/>
                <a:cs typeface="Noto Sans" panose="020B0502040504020204" pitchFamily="34" charset="0"/>
              </a:rPr>
              <a:t>Dự</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đoán</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ảnh</a:t>
            </a:r>
            <a:r>
              <a:rPr lang="en-US" sz="2000" dirty="0">
                <a:latin typeface="Noto Sans" panose="020B0502040504020204" pitchFamily="34" charset="0"/>
                <a:ea typeface="Noto Sans" panose="020B0502040504020204" pitchFamily="34" charset="0"/>
                <a:cs typeface="Noto Sans" panose="020B0502040504020204" pitchFamily="34" charset="0"/>
              </a:rPr>
              <a:t> Tuberculosis</a:t>
            </a:r>
            <a:endParaRPr lang="vi-VN" altLang="vi-VN" sz="200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110904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00"/>
                                        <p:tgtEl>
                                          <p:spTgt spid="8"/>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直角三角形 11">
            <a:extLst>
              <a:ext uri="{FF2B5EF4-FFF2-40B4-BE49-F238E27FC236}">
                <a16:creationId xmlns:a16="http://schemas.microsoft.com/office/drawing/2014/main" id="{6713DD25-A41E-8741-89A5-1D9BA6A6FCF3}"/>
              </a:ext>
            </a:extLst>
          </p:cNvPr>
          <p:cNvSpPr/>
          <p:nvPr/>
        </p:nvSpPr>
        <p:spPr>
          <a:xfrm rot="5400000">
            <a:off x="0" y="9526"/>
            <a:ext cx="3419474" cy="341947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a:extLst>
              <a:ext uri="{FF2B5EF4-FFF2-40B4-BE49-F238E27FC236}">
                <a16:creationId xmlns:a16="http://schemas.microsoft.com/office/drawing/2014/main" id="{82457A4D-760F-744F-A595-C30FF16EECDA}"/>
              </a:ext>
            </a:extLst>
          </p:cNvPr>
          <p:cNvCxnSpPr/>
          <p:nvPr/>
        </p:nvCxnSpPr>
        <p:spPr>
          <a:xfrm flipH="1">
            <a:off x="-27126" y="52023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91804A2-61E5-144E-AF34-DCC884D55880}"/>
              </a:ext>
            </a:extLst>
          </p:cNvPr>
          <p:cNvSpPr txBox="1"/>
          <p:nvPr/>
        </p:nvSpPr>
        <p:spPr>
          <a:xfrm>
            <a:off x="2279769" y="2971800"/>
            <a:ext cx="7632461" cy="914400"/>
          </a:xfrm>
          <a:prstGeom prst="rect">
            <a:avLst/>
          </a:prstGeom>
          <a:noFill/>
        </p:spPr>
        <p:txBody>
          <a:bodyPr wrap="square" rtlCol="0">
            <a:normAutofit fontScale="62500" lnSpcReduction="20000"/>
          </a:bodyPr>
          <a:lstStyle/>
          <a:p>
            <a:pPr algn="dist"/>
            <a:r>
              <a:rPr kumimoji="1" lang="en-US" altLang="vi-VN" sz="5400" b="1" dirty="0">
                <a:solidFill>
                  <a:schemeClr val="tx1">
                    <a:lumMod val="75000"/>
                    <a:lumOff val="25000"/>
                  </a:schemeClr>
                </a:solidFill>
                <a:latin typeface="Noto Sans"/>
                <a:ea typeface="Noto Sans"/>
              </a:rPr>
              <a:t>KẾT LUẬN &amp; HƯỚNG PHÁT TRIỂN</a:t>
            </a:r>
            <a:endParaRPr kumimoji="1" lang="vi-VN" altLang="vi-VN" sz="5400" b="1" dirty="0">
              <a:solidFill>
                <a:schemeClr val="tx1">
                  <a:lumMod val="75000"/>
                  <a:lumOff val="25000"/>
                </a:schemeClr>
              </a:solidFill>
              <a:latin typeface="Noto Sans"/>
              <a:ea typeface="Noto Sans"/>
            </a:endParaRPr>
          </a:p>
        </p:txBody>
      </p:sp>
      <p:grpSp>
        <p:nvGrpSpPr>
          <p:cNvPr id="3" name="组合 2">
            <a:extLst>
              <a:ext uri="{FF2B5EF4-FFF2-40B4-BE49-F238E27FC236}">
                <a16:creationId xmlns:a16="http://schemas.microsoft.com/office/drawing/2014/main" id="{4B1884EA-D4A8-5F4C-92FA-36E3D4F0F759}"/>
              </a:ext>
            </a:extLst>
          </p:cNvPr>
          <p:cNvGrpSpPr/>
          <p:nvPr/>
        </p:nvGrpSpPr>
        <p:grpSpPr>
          <a:xfrm>
            <a:off x="5736000" y="1916148"/>
            <a:ext cx="720000" cy="720000"/>
            <a:chOff x="6243572" y="2104969"/>
            <a:chExt cx="720000" cy="720000"/>
          </a:xfrm>
        </p:grpSpPr>
        <p:sp>
          <p:nvSpPr>
            <p:cNvPr id="19" name="圆角矩形 18">
              <a:extLst>
                <a:ext uri="{FF2B5EF4-FFF2-40B4-BE49-F238E27FC236}">
                  <a16:creationId xmlns:a16="http://schemas.microsoft.com/office/drawing/2014/main" id="{5E98059B-29A9-D54F-B34C-D3939F25DD0A}"/>
                </a:ext>
              </a:extLst>
            </p:cNvPr>
            <p:cNvSpPr/>
            <p:nvPr/>
          </p:nvSpPr>
          <p:spPr>
            <a:xfrm>
              <a:off x="6243572" y="2104969"/>
              <a:ext cx="720000" cy="720000"/>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2518F8CA-A30B-B34C-8C62-B155253DDEFF}"/>
                </a:ext>
              </a:extLst>
            </p:cNvPr>
            <p:cNvSpPr txBox="1"/>
            <p:nvPr/>
          </p:nvSpPr>
          <p:spPr>
            <a:xfrm>
              <a:off x="6337974" y="2234083"/>
              <a:ext cx="531196" cy="461772"/>
            </a:xfrm>
            <a:prstGeom prst="rect">
              <a:avLst/>
            </a:prstGeom>
            <a:noFill/>
          </p:spPr>
          <p:txBody>
            <a:bodyPr wrap="none" rtlCol="0">
              <a:normAutofit/>
            </a:bodyPr>
            <a:lstStyle/>
            <a:p>
              <a:r>
                <a:rPr kumimoji="1" lang="vi-VN" altLang="vi-VN" sz="2400" b="1" dirty="0">
                  <a:solidFill>
                    <a:schemeClr val="bg1"/>
                  </a:solidFill>
                  <a:latin typeface="Noto Sans"/>
                  <a:ea typeface="Noto Sans"/>
                </a:rPr>
                <a:t>0</a:t>
              </a:r>
              <a:r>
                <a:rPr kumimoji="1" lang="en-US" altLang="vi-VN" sz="2400" b="1" dirty="0">
                  <a:solidFill>
                    <a:schemeClr val="bg1"/>
                  </a:solidFill>
                  <a:latin typeface="Noto Sans"/>
                  <a:ea typeface="Noto Sans"/>
                </a:rPr>
                <a:t>6</a:t>
              </a:r>
              <a:endParaRPr kumimoji="1" lang="zh-CN" altLang="en-US" sz="2400" b="1" dirty="0">
                <a:solidFill>
                  <a:schemeClr val="bg1"/>
                </a:solidFill>
                <a:latin typeface="Source Han Sans CN Bold" panose="020B0500000000000000" pitchFamily="34" charset="-128"/>
                <a:ea typeface="Source Han Sans CN Bold" panose="020B0500000000000000" pitchFamily="34" charset="-128"/>
              </a:endParaRPr>
            </a:p>
          </p:txBody>
        </p:sp>
      </p:grpSp>
      <p:sp>
        <p:nvSpPr>
          <p:cNvPr id="30" name="直角三角形 29">
            <a:extLst>
              <a:ext uri="{FF2B5EF4-FFF2-40B4-BE49-F238E27FC236}">
                <a16:creationId xmlns:a16="http://schemas.microsoft.com/office/drawing/2014/main" id="{5BDE9C11-98D2-944E-807F-B24C4CB66D12}"/>
              </a:ext>
            </a:extLst>
          </p:cNvPr>
          <p:cNvSpPr/>
          <p:nvPr/>
        </p:nvSpPr>
        <p:spPr>
          <a:xfrm rot="16200000">
            <a:off x="9701212" y="4396901"/>
            <a:ext cx="2487981" cy="2487981"/>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1" name="直线连接符 30">
            <a:extLst>
              <a:ext uri="{FF2B5EF4-FFF2-40B4-BE49-F238E27FC236}">
                <a16:creationId xmlns:a16="http://schemas.microsoft.com/office/drawing/2014/main" id="{DCB3711E-E35E-834F-9B7C-0EB64C446099}"/>
              </a:ext>
            </a:extLst>
          </p:cNvPr>
          <p:cNvCxnSpPr/>
          <p:nvPr/>
        </p:nvCxnSpPr>
        <p:spPr>
          <a:xfrm flipH="1">
            <a:off x="10508031" y="2091725"/>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4" name="Picture 3" descr="Thông báo - tvu.edu.vn">
            <a:extLst>
              <a:ext uri="{FF2B5EF4-FFF2-40B4-BE49-F238E27FC236}">
                <a16:creationId xmlns:a16="http://schemas.microsoft.com/office/drawing/2014/main" id="{540A080D-AE37-540E-FA3F-D96D23B1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3178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a:extLst>
              <a:ext uri="{FF2B5EF4-FFF2-40B4-BE49-F238E27FC236}">
                <a16:creationId xmlns:a16="http://schemas.microsoft.com/office/drawing/2014/main" id="{61613676-BCE6-154D-B253-F61DE66AABD8}"/>
              </a:ext>
            </a:extLst>
          </p:cNvPr>
          <p:cNvSpPr txBox="1"/>
          <p:nvPr/>
        </p:nvSpPr>
        <p:spPr>
          <a:xfrm>
            <a:off x="1130197" y="180990"/>
            <a:ext cx="2578548" cy="415595"/>
          </a:xfrm>
          <a:prstGeom prst="rect">
            <a:avLst/>
          </a:prstGeom>
          <a:noFill/>
        </p:spPr>
        <p:txBody>
          <a:bodyPr wrap="none" rtlCol="0">
            <a:normAutofit/>
          </a:bodyPr>
          <a:lstStyle/>
          <a:p>
            <a:r>
              <a:rPr kumimoji="1" lang="en-US" altLang="vi-VN" sz="2100" b="1" dirty="0" err="1">
                <a:solidFill>
                  <a:srgbClr val="24325B"/>
                </a:solidFill>
                <a:latin typeface="Noto Sans"/>
                <a:ea typeface="Noto Sans"/>
              </a:rPr>
              <a:t>Kết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luận</a:t>
            </a:r>
            <a:r>
              <a:rPr kumimoji="1" lang="en-US" altLang="vi-VN" sz="2100" b="1" dirty="0">
                <a:solidFill>
                  <a:srgbClr val="24325B"/>
                </a:solidFill>
                <a:latin typeface="Noto Sans"/>
                <a:ea typeface="Noto Sans"/>
              </a:rPr>
              <a:t> &amp; </a:t>
            </a:r>
            <a:r>
              <a:rPr kumimoji="1" lang="en-US" altLang="vi-VN" sz="2100" b="1" dirty="0" err="1">
                <a:solidFill>
                  <a:srgbClr val="24325B"/>
                </a:solidFill>
                <a:latin typeface="Noto Sans"/>
                <a:ea typeface="Noto Sans"/>
              </a:rPr>
              <a:t>hướng</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phát</a:t>
            </a:r>
            <a:r>
              <a:rPr kumimoji="1" lang="en-US" altLang="vi-VN" sz="2100" b="1" dirty="0">
                <a:solidFill>
                  <a:srgbClr val="24325B"/>
                </a:solidFill>
                <a:latin typeface="Noto Sans"/>
                <a:ea typeface="Noto Sans"/>
              </a:rPr>
              <a:t> </a:t>
            </a:r>
            <a:r>
              <a:rPr kumimoji="1" lang="en-US" altLang="vi-VN" sz="2100" b="1" dirty="0" err="1">
                <a:solidFill>
                  <a:srgbClr val="24325B"/>
                </a:solidFill>
                <a:latin typeface="Noto Sans"/>
                <a:ea typeface="Noto Sans"/>
              </a:rPr>
              <a:t>triển</a:t>
            </a:r>
            <a:endParaRPr kumimoji="1" lang="vi-VN" altLang="vi-VN" sz="2100" b="1" dirty="0">
              <a:solidFill>
                <a:srgbClr val="24325B"/>
              </a:solidFill>
              <a:latin typeface="Noto Sans"/>
              <a:ea typeface="Noto Sans"/>
            </a:endParaRPr>
          </a:p>
        </p:txBody>
      </p:sp>
      <p:sp>
        <p:nvSpPr>
          <p:cNvPr id="8" name="TextBox 7">
            <a:extLst>
              <a:ext uri="{FF2B5EF4-FFF2-40B4-BE49-F238E27FC236}">
                <a16:creationId xmlns:a16="http://schemas.microsoft.com/office/drawing/2014/main" id="{9A01DAD6-A3CB-5169-939A-586424421297}"/>
              </a:ext>
            </a:extLst>
          </p:cNvPr>
          <p:cNvSpPr txBox="1"/>
          <p:nvPr/>
        </p:nvSpPr>
        <p:spPr>
          <a:xfrm>
            <a:off x="762000" y="1293666"/>
            <a:ext cx="10668000" cy="5034070"/>
          </a:xfrm>
          <a:prstGeom prst="rect">
            <a:avLst/>
          </a:prstGeom>
          <a:noFill/>
        </p:spPr>
        <p:txBody>
          <a:bodyPr wrap="square">
            <a:spAutoFit/>
          </a:bodyPr>
          <a:lstStyle/>
          <a:p>
            <a:pPr>
              <a:lnSpc>
                <a:spcPct val="150000"/>
              </a:lnSpc>
            </a:pPr>
            <a:r>
              <a:rPr lang="en-US" b="1" dirty="0">
                <a:latin typeface="Noto Sans" panose="020B0502040504020204" pitchFamily="34" charset="0"/>
                <a:ea typeface="Noto Sans" panose="020B0502040504020204" pitchFamily="34" charset="0"/>
                <a:cs typeface="Noto Sans" panose="020B0502040504020204" pitchFamily="34" charset="0"/>
              </a:rPr>
              <a:t>KẾT LUẬN:</a:t>
            </a:r>
          </a:p>
          <a:p>
            <a:pPr marL="285750" indent="-285750">
              <a:lnSpc>
                <a:spcPct val="150000"/>
              </a:lnSpc>
              <a:buFont typeface="Arial" panose="020B0604020202020204" pitchFamily="34" charset="0"/>
              <a:buChar char="•"/>
            </a:pPr>
            <a:r>
              <a:rPr lang="vi-VN" dirty="0">
                <a:latin typeface="Noto Sans" panose="020B0502040504020204" pitchFamily="34" charset="0"/>
                <a:ea typeface="Noto Sans" panose="020B0502040504020204" pitchFamily="34" charset="0"/>
                <a:cs typeface="Noto Sans" panose="020B0502040504020204" pitchFamily="34" charset="0"/>
              </a:rPr>
              <a:t>Xây dựng thành công quy trình xử lý ảnh X-ray: thu thập, chia dữ liệu, tăng cường dữ liệu.</a:t>
            </a:r>
            <a:endParaRPr lang="en-US" dirty="0">
              <a:latin typeface="Noto Sans" panose="020B0502040504020204" pitchFamily="34" charset="0"/>
              <a:ea typeface="Noto Sans" panose="020B0502040504020204" pitchFamily="34" charset="0"/>
              <a:cs typeface="Noto Sans" panose="020B0502040504020204" pitchFamily="34" charset="0"/>
            </a:endParaRPr>
          </a:p>
          <a:p>
            <a:pPr marL="285750" indent="-285750">
              <a:lnSpc>
                <a:spcPct val="150000"/>
              </a:lnSpc>
              <a:buFont typeface="Arial" panose="020B0604020202020204" pitchFamily="34" charset="0"/>
              <a:buChar char="•"/>
            </a:pPr>
            <a:r>
              <a:rPr lang="vi-VN" dirty="0">
                <a:latin typeface="Noto Sans" panose="020B0502040504020204" pitchFamily="34" charset="0"/>
                <a:ea typeface="Noto Sans" panose="020B0502040504020204" pitchFamily="34" charset="0"/>
                <a:cs typeface="Noto Sans" panose="020B0502040504020204" pitchFamily="34" charset="0"/>
              </a:rPr>
              <a:t>Triển khai thành công mô hình VGG16 cải tiến bằng PyTorch.</a:t>
            </a:r>
            <a:endParaRPr lang="en-US" dirty="0">
              <a:latin typeface="Noto Sans" panose="020B0502040504020204" pitchFamily="34" charset="0"/>
              <a:ea typeface="Noto Sans" panose="020B0502040504020204" pitchFamily="34" charset="0"/>
              <a:cs typeface="Noto Sans" panose="020B0502040504020204" pitchFamily="34" charset="0"/>
            </a:endParaRPr>
          </a:p>
          <a:p>
            <a:pPr marL="285750" indent="-285750">
              <a:lnSpc>
                <a:spcPct val="150000"/>
              </a:lnSpc>
              <a:buFont typeface="Arial" panose="020B0604020202020204" pitchFamily="34" charset="0"/>
              <a:buChar char="•"/>
            </a:pPr>
            <a:r>
              <a:rPr lang="vi-VN" dirty="0">
                <a:latin typeface="Noto Sans" panose="020B0502040504020204" pitchFamily="34" charset="0"/>
                <a:ea typeface="Noto Sans" panose="020B0502040504020204" pitchFamily="34" charset="0"/>
                <a:cs typeface="Noto Sans" panose="020B0502040504020204" pitchFamily="34" charset="0"/>
              </a:rPr>
              <a:t>Mô hình cải tiến cho kết quả tốt hơn và ổn định hơn so với mô hình gốc.</a:t>
            </a:r>
            <a:endParaRPr lang="en-US" dirty="0">
              <a:latin typeface="Noto Sans" panose="020B0502040504020204" pitchFamily="34" charset="0"/>
              <a:ea typeface="Noto Sans" panose="020B0502040504020204" pitchFamily="34" charset="0"/>
              <a:cs typeface="Noto Sans" panose="020B0502040504020204" pitchFamily="34" charset="0"/>
            </a:endParaRPr>
          </a:p>
          <a:p>
            <a:pPr marL="285750" indent="-285750">
              <a:lnSpc>
                <a:spcPct val="150000"/>
              </a:lnSpc>
              <a:buFont typeface="Arial" panose="020B0604020202020204" pitchFamily="34" charset="0"/>
              <a:buChar char="•"/>
            </a:pPr>
            <a:r>
              <a:rPr lang="vi-VN" dirty="0">
                <a:latin typeface="Noto Sans" panose="020B0502040504020204" pitchFamily="34" charset="0"/>
                <a:ea typeface="Noto Sans" panose="020B0502040504020204" pitchFamily="34" charset="0"/>
                <a:cs typeface="Noto Sans" panose="020B0502040504020204" pitchFamily="34" charset="0"/>
              </a:rPr>
              <a:t>Biểu đồ cho thấy mô hình học tốt và hạn chế hiện tượng học thuộc dữ liệu. </a:t>
            </a:r>
            <a:endParaRPr lang="en-US" dirty="0">
              <a:latin typeface="Noto Sans" panose="020B0502040504020204" pitchFamily="34" charset="0"/>
              <a:ea typeface="Noto Sans" panose="020B0502040504020204" pitchFamily="34" charset="0"/>
              <a:cs typeface="Noto Sans" panose="020B0502040504020204" pitchFamily="34" charset="0"/>
            </a:endParaRPr>
          </a:p>
          <a:p>
            <a:pPr marL="285750" indent="-285750">
              <a:lnSpc>
                <a:spcPct val="150000"/>
              </a:lnSpc>
              <a:buFont typeface="Arial" panose="020B0604020202020204" pitchFamily="34" charset="0"/>
              <a:buChar char="•"/>
            </a:pPr>
            <a:r>
              <a:rPr lang="vi-VN" dirty="0">
                <a:latin typeface="Noto Sans" panose="020B0502040504020204" pitchFamily="34" charset="0"/>
                <a:ea typeface="Noto Sans" panose="020B0502040504020204" pitchFamily="34" charset="0"/>
                <a:cs typeface="Noto Sans" panose="020B0502040504020204" pitchFamily="34" charset="0"/>
              </a:rPr>
              <a:t>Thiết kế lại phần phân loại với Batch Normalization + Dropout giúp mô hình ổn định hơn.</a:t>
            </a:r>
            <a:endParaRPr lang="en-US" dirty="0">
              <a:latin typeface="Noto Sans" panose="020B0502040504020204" pitchFamily="34" charset="0"/>
              <a:ea typeface="Noto Sans" panose="020B0502040504020204" pitchFamily="34" charset="0"/>
              <a:cs typeface="Noto Sans" panose="020B0502040504020204" pitchFamily="34" charset="0"/>
            </a:endParaRPr>
          </a:p>
          <a:p>
            <a:pPr marL="285750" indent="-285750">
              <a:lnSpc>
                <a:spcPct val="150000"/>
              </a:lnSpc>
              <a:buFont typeface="Arial" panose="020B0604020202020204" pitchFamily="34" charset="0"/>
              <a:buChar char="•"/>
            </a:pPr>
            <a:r>
              <a:rPr lang="vi-VN" dirty="0">
                <a:latin typeface="Noto Sans" panose="020B0502040504020204" pitchFamily="34" charset="0"/>
                <a:ea typeface="Noto Sans" panose="020B0502040504020204" pitchFamily="34" charset="0"/>
                <a:cs typeface="Noto Sans" panose="020B0502040504020204" pitchFamily="34" charset="0"/>
              </a:rPr>
              <a:t>Xây dựng giao diện cho phép tải ảnh X-ray và xem kết quả phân loại nhanh.</a:t>
            </a:r>
            <a:endParaRPr lang="en-US" dirty="0">
              <a:latin typeface="Noto Sans" panose="020B0502040504020204" pitchFamily="34" charset="0"/>
              <a:ea typeface="Noto Sans" panose="020B0502040504020204" pitchFamily="34" charset="0"/>
              <a:cs typeface="Noto Sans" panose="020B0502040504020204" pitchFamily="34" charset="0"/>
            </a:endParaRPr>
          </a:p>
          <a:p>
            <a:pPr>
              <a:lnSpc>
                <a:spcPct val="150000"/>
              </a:lnSpc>
            </a:pPr>
            <a:r>
              <a:rPr lang="vi-VN" b="1" dirty="0">
                <a:latin typeface="Noto Sans" panose="020B0502040504020204" pitchFamily="34" charset="0"/>
                <a:ea typeface="Noto Sans" panose="020B0502040504020204" pitchFamily="34" charset="0"/>
                <a:cs typeface="Noto Sans" panose="020B0502040504020204" pitchFamily="34" charset="0"/>
              </a:rPr>
              <a:t>HƯỚNG PHÁT TRIỂN</a:t>
            </a:r>
            <a:r>
              <a:rPr lang="en-US" b="1" dirty="0">
                <a:latin typeface="Noto Sans" panose="020B0502040504020204" pitchFamily="34" charset="0"/>
                <a:ea typeface="Noto Sans" panose="020B0502040504020204" pitchFamily="34" charset="0"/>
                <a:cs typeface="Noto Sans" panose="020B0502040504020204" pitchFamily="34" charset="0"/>
              </a:rPr>
              <a:t>:</a:t>
            </a:r>
          </a:p>
          <a:p>
            <a:pPr marL="285750" indent="-285750">
              <a:lnSpc>
                <a:spcPct val="150000"/>
              </a:lnSpc>
              <a:buFont typeface="Arial" panose="020B0604020202020204" pitchFamily="34" charset="0"/>
              <a:buChar char="•"/>
            </a:pPr>
            <a:r>
              <a:rPr lang="vi-VN" dirty="0">
                <a:latin typeface="Noto Sans" panose="020B0502040504020204" pitchFamily="34" charset="0"/>
                <a:ea typeface="Noto Sans" panose="020B0502040504020204" pitchFamily="34" charset="0"/>
                <a:cs typeface="Noto Sans" panose="020B0502040504020204" pitchFamily="34" charset="0"/>
              </a:rPr>
              <a:t>Mở rộng thêm dữ liệu từ nhiều nguồn X-ray khác nhau.</a:t>
            </a:r>
            <a:endParaRPr lang="en-US" dirty="0">
              <a:latin typeface="Noto Sans" panose="020B0502040504020204" pitchFamily="34" charset="0"/>
              <a:ea typeface="Noto Sans" panose="020B0502040504020204" pitchFamily="34" charset="0"/>
              <a:cs typeface="Noto Sans" panose="020B0502040504020204" pitchFamily="34" charset="0"/>
            </a:endParaRPr>
          </a:p>
          <a:p>
            <a:pPr marL="285750" indent="-285750">
              <a:lnSpc>
                <a:spcPct val="150000"/>
              </a:lnSpc>
              <a:buFont typeface="Arial" panose="020B0604020202020204" pitchFamily="34" charset="0"/>
              <a:buChar char="•"/>
            </a:pPr>
            <a:r>
              <a:rPr lang="vi-VN" dirty="0">
                <a:latin typeface="Noto Sans" panose="020B0502040504020204" pitchFamily="34" charset="0"/>
                <a:ea typeface="Noto Sans" panose="020B0502040504020204" pitchFamily="34" charset="0"/>
                <a:cs typeface="Noto Sans" panose="020B0502040504020204" pitchFamily="34" charset="0"/>
              </a:rPr>
              <a:t>Thử nghiệm các mô hình mới để nâng cao hiệu quả phân loại.</a:t>
            </a:r>
            <a:endParaRPr lang="en-US" dirty="0">
              <a:latin typeface="Noto Sans" panose="020B0502040504020204" pitchFamily="34" charset="0"/>
              <a:ea typeface="Noto Sans" panose="020B0502040504020204" pitchFamily="34" charset="0"/>
              <a:cs typeface="Noto Sans" panose="020B0502040504020204" pitchFamily="34" charset="0"/>
            </a:endParaRPr>
          </a:p>
          <a:p>
            <a:pPr marL="285750" indent="-285750">
              <a:lnSpc>
                <a:spcPct val="150000"/>
              </a:lnSpc>
              <a:buFont typeface="Arial" panose="020B0604020202020204" pitchFamily="34" charset="0"/>
              <a:buChar char="•"/>
            </a:pPr>
            <a:r>
              <a:rPr lang="vi-VN" dirty="0">
                <a:latin typeface="Noto Sans" panose="020B0502040504020204" pitchFamily="34" charset="0"/>
                <a:ea typeface="Noto Sans" panose="020B0502040504020204" pitchFamily="34" charset="0"/>
                <a:cs typeface="Noto Sans" panose="020B0502040504020204" pitchFamily="34" charset="0"/>
              </a:rPr>
              <a:t>Bổ sung chức năng hiển thị vùng ảnh mà mô hình sử dụng khi dự đoán.</a:t>
            </a:r>
            <a:endParaRPr lang="en-US" dirty="0">
              <a:latin typeface="Noto Sans" panose="020B0502040504020204" pitchFamily="34" charset="0"/>
              <a:ea typeface="Noto Sans" panose="020B0502040504020204" pitchFamily="34" charset="0"/>
              <a:cs typeface="Noto Sans" panose="020B0502040504020204" pitchFamily="34" charset="0"/>
            </a:endParaRPr>
          </a:p>
          <a:p>
            <a:pPr marL="285750" indent="-285750">
              <a:lnSpc>
                <a:spcPct val="150000"/>
              </a:lnSpc>
              <a:buFont typeface="Arial" panose="020B0604020202020204" pitchFamily="34" charset="0"/>
              <a:buChar char="•"/>
            </a:pPr>
            <a:r>
              <a:rPr lang="vi-VN" dirty="0">
                <a:latin typeface="Noto Sans" panose="020B0502040504020204" pitchFamily="34" charset="0"/>
                <a:ea typeface="Noto Sans" panose="020B0502040504020204" pitchFamily="34" charset="0"/>
                <a:cs typeface="Noto Sans" panose="020B0502040504020204" pitchFamily="34" charset="0"/>
              </a:rPr>
              <a:t>Tối ưu mô hình để triển khai trong các hệ thống và thiết bị thực tế.</a:t>
            </a:r>
            <a:endParaRPr lang="en-US"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9751189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000">
        <p159:morph option="byObject"/>
      </p:transition>
    </mc:Choice>
    <mc:Fallback>
      <p:transition spd="slow" advTm="3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E03ACF8-EABC-1D4F-87BF-8E50DBEA5456}"/>
              </a:ext>
            </a:extLst>
          </p:cNvPr>
          <p:cNvSpPr txBox="1"/>
          <p:nvPr/>
        </p:nvSpPr>
        <p:spPr>
          <a:xfrm>
            <a:off x="2769048" y="2605220"/>
            <a:ext cx="6865935" cy="1188720"/>
          </a:xfrm>
          <a:prstGeom prst="rect">
            <a:avLst/>
          </a:prstGeom>
          <a:noFill/>
        </p:spPr>
        <p:txBody>
          <a:bodyPr wrap="square" rtlCol="0">
            <a:normAutofit/>
          </a:bodyPr>
          <a:lstStyle/>
          <a:p>
            <a:pPr algn="dist"/>
            <a:r>
              <a:rPr kumimoji="1" lang="vi-VN" altLang="vi-VN" sz="3200" b="1" dirty="0">
                <a:solidFill>
                  <a:schemeClr val="tx1">
                    <a:lumMod val="75000"/>
                    <a:lumOff val="25000"/>
                  </a:schemeClr>
                </a:solidFill>
                <a:latin typeface="Noto Sans"/>
                <a:ea typeface="Noto Sans"/>
              </a:rPr>
              <a:t>C</a:t>
            </a:r>
            <a:r>
              <a:rPr kumimoji="1" lang="en-US" altLang="vi-VN" sz="3200" b="1" dirty="0" err="1">
                <a:solidFill>
                  <a:schemeClr val="tx1">
                    <a:lumMod val="75000"/>
                    <a:lumOff val="25000"/>
                  </a:schemeClr>
                </a:solidFill>
                <a:latin typeface="Noto Sans"/>
                <a:ea typeface="Noto Sans"/>
              </a:rPr>
              <a:t>ảm</a:t>
            </a:r>
            <a:r>
              <a:rPr kumimoji="1" lang="vi-VN" altLang="vi-VN" sz="3200" b="1" dirty="0">
                <a:solidFill>
                  <a:schemeClr val="tx1">
                    <a:lumMod val="75000"/>
                    <a:lumOff val="25000"/>
                  </a:schemeClr>
                </a:solidFill>
                <a:latin typeface="Noto Sans"/>
                <a:ea typeface="Noto Sans"/>
              </a:rPr>
              <a:t> ơn </a:t>
            </a:r>
            <a:r>
              <a:rPr kumimoji="1" lang="en-US" altLang="vi-VN" sz="3200" b="1" dirty="0" err="1">
                <a:solidFill>
                  <a:schemeClr val="tx1">
                    <a:lumMod val="75000"/>
                    <a:lumOff val="25000"/>
                  </a:schemeClr>
                </a:solidFill>
                <a:latin typeface="Noto Sans"/>
                <a:ea typeface="Noto Sans"/>
              </a:rPr>
              <a:t>giảng</a:t>
            </a:r>
            <a:r>
              <a:rPr kumimoji="1" lang="en-US" altLang="vi-VN" sz="3200" b="1" dirty="0">
                <a:solidFill>
                  <a:schemeClr val="tx1">
                    <a:lumMod val="75000"/>
                    <a:lumOff val="25000"/>
                  </a:schemeClr>
                </a:solidFill>
                <a:latin typeface="Noto Sans"/>
                <a:ea typeface="Noto Sans"/>
              </a:rPr>
              <a:t> </a:t>
            </a:r>
            <a:r>
              <a:rPr kumimoji="1" lang="en-US" altLang="vi-VN" sz="3200" b="1" dirty="0" err="1">
                <a:solidFill>
                  <a:schemeClr val="tx1">
                    <a:lumMod val="75000"/>
                    <a:lumOff val="25000"/>
                  </a:schemeClr>
                </a:solidFill>
                <a:latin typeface="Noto Sans"/>
                <a:ea typeface="Noto Sans"/>
              </a:rPr>
              <a:t>viên</a:t>
            </a:r>
            <a:r>
              <a:rPr kumimoji="1" lang="en-US" altLang="vi-VN" sz="3200" b="1" dirty="0">
                <a:solidFill>
                  <a:schemeClr val="tx1">
                    <a:lumMod val="75000"/>
                    <a:lumOff val="25000"/>
                  </a:schemeClr>
                </a:solidFill>
                <a:latin typeface="Noto Sans"/>
                <a:ea typeface="Noto Sans"/>
              </a:rPr>
              <a:t> </a:t>
            </a:r>
            <a:r>
              <a:rPr kumimoji="1" lang="en-US" altLang="vi-VN" sz="3200" b="1" dirty="0" err="1">
                <a:solidFill>
                  <a:schemeClr val="tx1">
                    <a:lumMod val="75000"/>
                    <a:lumOff val="25000"/>
                  </a:schemeClr>
                </a:solidFill>
                <a:latin typeface="Noto Sans"/>
                <a:ea typeface="Noto Sans"/>
              </a:rPr>
              <a:t>đã</a:t>
            </a:r>
            <a:r>
              <a:rPr kumimoji="1" lang="en-US" altLang="vi-VN" sz="3200" b="1" dirty="0">
                <a:solidFill>
                  <a:schemeClr val="tx1">
                    <a:lumMod val="75000"/>
                    <a:lumOff val="25000"/>
                  </a:schemeClr>
                </a:solidFill>
                <a:latin typeface="Noto Sans"/>
                <a:ea typeface="Noto Sans"/>
              </a:rPr>
              <a:t> </a:t>
            </a:r>
            <a:r>
              <a:rPr kumimoji="1" lang="en-US" altLang="vi-VN" sz="3200" b="1" dirty="0" err="1">
                <a:solidFill>
                  <a:schemeClr val="tx1">
                    <a:lumMod val="75000"/>
                    <a:lumOff val="25000"/>
                  </a:schemeClr>
                </a:solidFill>
                <a:latin typeface="Noto Sans"/>
                <a:ea typeface="Noto Sans"/>
              </a:rPr>
              <a:t>lắng</a:t>
            </a:r>
            <a:r>
              <a:rPr kumimoji="1" lang="en-US" altLang="vi-VN" sz="3200" b="1" dirty="0">
                <a:solidFill>
                  <a:schemeClr val="tx1">
                    <a:lumMod val="75000"/>
                    <a:lumOff val="25000"/>
                  </a:schemeClr>
                </a:solidFill>
                <a:latin typeface="Noto Sans"/>
                <a:ea typeface="Noto Sans"/>
              </a:rPr>
              <a:t> </a:t>
            </a:r>
            <a:r>
              <a:rPr kumimoji="1" lang="en-US" altLang="vi-VN" sz="3200" b="1" dirty="0" err="1">
                <a:solidFill>
                  <a:schemeClr val="tx1">
                    <a:lumMod val="75000"/>
                    <a:lumOff val="25000"/>
                  </a:schemeClr>
                </a:solidFill>
                <a:latin typeface="Noto Sans"/>
                <a:ea typeface="Noto Sans"/>
              </a:rPr>
              <a:t>nghe</a:t>
            </a:r>
            <a:endParaRPr kumimoji="1" lang="vi-VN" altLang="vi-VN" sz="3200" b="1" dirty="0">
              <a:solidFill>
                <a:schemeClr val="tx1">
                  <a:lumMod val="75000"/>
                  <a:lumOff val="25000"/>
                </a:schemeClr>
              </a:solidFill>
              <a:latin typeface="Noto Sans"/>
              <a:ea typeface="Noto Sans"/>
            </a:endParaRPr>
          </a:p>
        </p:txBody>
      </p:sp>
      <p:sp>
        <p:nvSpPr>
          <p:cNvPr id="4" name="直角三角形 3">
            <a:extLst>
              <a:ext uri="{FF2B5EF4-FFF2-40B4-BE49-F238E27FC236}">
                <a16:creationId xmlns:a16="http://schemas.microsoft.com/office/drawing/2014/main" id="{E8830590-575E-754B-BBD1-CF430B4CE861}"/>
              </a:ext>
            </a:extLst>
          </p:cNvPr>
          <p:cNvSpPr/>
          <p:nvPr/>
        </p:nvSpPr>
        <p:spPr>
          <a:xfrm rot="5400000">
            <a:off x="-1" y="9939"/>
            <a:ext cx="3892064" cy="3892064"/>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直角三角形 14">
            <a:extLst>
              <a:ext uri="{FF2B5EF4-FFF2-40B4-BE49-F238E27FC236}">
                <a16:creationId xmlns:a16="http://schemas.microsoft.com/office/drawing/2014/main" id="{C5D500DF-C263-EE41-83EB-0A173207DC00}"/>
              </a:ext>
            </a:extLst>
          </p:cNvPr>
          <p:cNvSpPr/>
          <p:nvPr/>
        </p:nvSpPr>
        <p:spPr>
          <a:xfrm rot="16200000">
            <a:off x="7878416" y="2544416"/>
            <a:ext cx="4313583" cy="4313583"/>
          </a:xfrm>
          <a:prstGeom prst="rtTriangl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 name="直线连接符 5">
            <a:extLst>
              <a:ext uri="{FF2B5EF4-FFF2-40B4-BE49-F238E27FC236}">
                <a16:creationId xmlns:a16="http://schemas.microsoft.com/office/drawing/2014/main" id="{5833D964-DFE2-EA42-A16F-D71FA404BCAF}"/>
              </a:ext>
            </a:extLst>
          </p:cNvPr>
          <p:cNvCxnSpPr/>
          <p:nvPr/>
        </p:nvCxnSpPr>
        <p:spPr>
          <a:xfrm flipH="1">
            <a:off x="0" y="822760"/>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BB5050BC-6ED4-E44B-B4A4-0095BD2CF516}"/>
              </a:ext>
            </a:extLst>
          </p:cNvPr>
          <p:cNvCxnSpPr/>
          <p:nvPr/>
        </p:nvCxnSpPr>
        <p:spPr>
          <a:xfrm flipH="1">
            <a:off x="7484926" y="3370197"/>
            <a:ext cx="3511826" cy="3511826"/>
          </a:xfrm>
          <a:prstGeom prst="line">
            <a:avLst/>
          </a:prstGeom>
          <a:ln w="12700">
            <a:solidFill>
              <a:srgbClr val="4F292F"/>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A3F3161E-459F-1A42-8F18-A936087DE6D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156873" y="4225239"/>
            <a:ext cx="3882744" cy="3620001"/>
          </a:xfrm>
          <a:prstGeom prst="rect">
            <a:avLst/>
          </a:prstGeom>
        </p:spPr>
      </p:pic>
      <p:pic>
        <p:nvPicPr>
          <p:cNvPr id="2" name="Picture 1" descr="Thông báo - tvu.edu.vn">
            <a:extLst>
              <a:ext uri="{FF2B5EF4-FFF2-40B4-BE49-F238E27FC236}">
                <a16:creationId xmlns:a16="http://schemas.microsoft.com/office/drawing/2014/main" id="{823FD0FB-2444-7388-316F-777EDFD658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57" y="9938"/>
            <a:ext cx="892238" cy="892238"/>
          </a:xfrm>
          <a:prstGeom prst="rect">
            <a:avLst/>
          </a:prstGeom>
          <a:noFill/>
          <a:extLst>
            <a:ext uri="{909E8E84-426E-40DD-AFC4-6F175D3DCCD1}">
              <a14:hiddenFill xmlns:a14="http://schemas.microsoft.com/office/drawing/2010/main">
                <a:solidFill>
                  <a:srgbClr val="FFFFFF"/>
                </a:solidFill>
              </a14:hiddenFill>
            </a:ext>
          </a:extLst>
        </p:spPr>
      </p:pic>
      <p:sp>
        <p:nvSpPr>
          <p:cNvPr id="5" name="圆角矩形 18">
            <a:extLst>
              <a:ext uri="{FF2B5EF4-FFF2-40B4-BE49-F238E27FC236}">
                <a16:creationId xmlns:a16="http://schemas.microsoft.com/office/drawing/2014/main" id="{A0D3542C-422D-4519-73BC-92123722921F}"/>
              </a:ext>
            </a:extLst>
          </p:cNvPr>
          <p:cNvSpPr/>
          <p:nvPr/>
        </p:nvSpPr>
        <p:spPr>
          <a:xfrm>
            <a:off x="3909388" y="225095"/>
            <a:ext cx="4585254" cy="572595"/>
          </a:xfrm>
          <a:prstGeom prst="roundRect">
            <a:avLst>
              <a:gd name="adj" fmla="val 50000"/>
            </a:avLst>
          </a:prstGeom>
          <a:solidFill>
            <a:srgbClr val="24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19">
            <a:extLst>
              <a:ext uri="{FF2B5EF4-FFF2-40B4-BE49-F238E27FC236}">
                <a16:creationId xmlns:a16="http://schemas.microsoft.com/office/drawing/2014/main" id="{61F6C25C-51E1-E63E-796D-FE0A093F5A86}"/>
              </a:ext>
            </a:extLst>
          </p:cNvPr>
          <p:cNvSpPr/>
          <p:nvPr/>
        </p:nvSpPr>
        <p:spPr>
          <a:xfrm>
            <a:off x="8674432" y="225094"/>
            <a:ext cx="566407" cy="572595"/>
          </a:xfrm>
          <a:prstGeom prst="ellipse">
            <a:avLst/>
          </a:prstGeom>
          <a:solidFill>
            <a:srgbClr val="D1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9">
            <a:extLst>
              <a:ext uri="{FF2B5EF4-FFF2-40B4-BE49-F238E27FC236}">
                <a16:creationId xmlns:a16="http://schemas.microsoft.com/office/drawing/2014/main" id="{771AA11D-05C5-9337-5E5F-D1F59EBC87A1}"/>
              </a:ext>
            </a:extLst>
          </p:cNvPr>
          <p:cNvSpPr txBox="1"/>
          <p:nvPr/>
        </p:nvSpPr>
        <p:spPr>
          <a:xfrm>
            <a:off x="4172594" y="212914"/>
            <a:ext cx="4058841" cy="584775"/>
          </a:xfrm>
          <a:prstGeom prst="rect">
            <a:avLst/>
          </a:prstGeom>
          <a:noFill/>
        </p:spPr>
        <p:txBody>
          <a:bodyPr wrap="square">
            <a:spAutoFit/>
          </a:bodyPr>
          <a:lstStyle/>
          <a:p>
            <a:pPr lvl="0" algn="ctr" eaLnBrk="0" fontAlgn="base" hangingPunct="0">
              <a:spcBef>
                <a:spcPct val="0"/>
              </a:spcBef>
              <a:spcAft>
                <a:spcPct val="0"/>
              </a:spcAft>
            </a:pPr>
            <a:r>
              <a:rPr lang="vi-VN" altLang="vi-VN" sz="1600" b="1" dirty="0">
                <a:solidFill>
                  <a:schemeClr val="bg1"/>
                </a:solidFill>
                <a:latin typeface="Montserrat ExtraBold" pitchFamily="2" charset="0"/>
              </a:rPr>
              <a:t>TRƯỜNG KỸ THUẬT VÀ CÔNG NGHỆ</a:t>
            </a:r>
            <a:endParaRPr lang="en-US" altLang="vi-VN" sz="1600" b="1" dirty="0">
              <a:solidFill>
                <a:schemeClr val="bg1"/>
              </a:solidFill>
              <a:latin typeface="Montserrat ExtraBold" pitchFamily="2" charset="0"/>
            </a:endParaRPr>
          </a:p>
          <a:p>
            <a:pPr lvl="0" algn="ctr" eaLnBrk="0" fontAlgn="base" hangingPunct="0">
              <a:spcBef>
                <a:spcPct val="0"/>
              </a:spcBef>
              <a:spcAft>
                <a:spcPct val="0"/>
              </a:spcAft>
            </a:pPr>
            <a:r>
              <a:rPr lang="en-US" altLang="vi-VN" sz="1600" b="1" dirty="0">
                <a:solidFill>
                  <a:schemeClr val="bg1"/>
                </a:solidFill>
                <a:latin typeface="Montserrat ExtraBold" pitchFamily="2" charset="0"/>
              </a:rPr>
              <a:t>KHOA CÔNG NGHỆ THÔNG TIN</a:t>
            </a:r>
            <a:endParaRPr lang="vi-VN" altLang="vi-VN" sz="1600" b="1" dirty="0">
              <a:solidFill>
                <a:schemeClr val="bg1"/>
              </a:solidFill>
              <a:latin typeface="Montserrat ExtraBold" pitchFamily="2" charset="0"/>
            </a:endParaRPr>
          </a:p>
        </p:txBody>
      </p:sp>
    </p:spTree>
    <p:extLst>
      <p:ext uri="{BB962C8B-B14F-4D97-AF65-F5344CB8AC3E}">
        <p14:creationId xmlns:p14="http://schemas.microsoft.com/office/powerpoint/2010/main" val="646371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3" presetClass="entr" presetSubtype="1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linds(horizontal)">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9"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2.6 unknown"/>
  <p:tag name="AS_RELEASE_DATE" val="2021.11.30"/>
  <p:tag name="AS_TITLE" val="Aspose.Slides for Java"/>
  <p:tag name="AS_VERSION" val="21.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等线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等线"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6AB8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等线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等线"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7002</TotalTime>
  <Words>1931</Words>
  <Application>Microsoft Office PowerPoint</Application>
  <PresentationFormat>Widescreen</PresentationFormat>
  <Paragraphs>122</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等线</vt:lpstr>
      <vt:lpstr>Arial</vt:lpstr>
      <vt:lpstr>Montserrat ExtraBold</vt:lpstr>
      <vt:lpstr>Noto Sans</vt:lpstr>
      <vt:lpstr>Source Han Sans CN Bold</vt:lpstr>
      <vt:lpstr>思源宋体 Heavy</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医疗法律法规</dc:title>
  <dc:creator>hp</dc:creator>
  <cp:lastModifiedBy>Luu Bich Ngoc</cp:lastModifiedBy>
  <cp:revision>135</cp:revision>
  <dcterms:created xsi:type="dcterms:W3CDTF">2021-06-16T10:10:48Z</dcterms:created>
  <dcterms:modified xsi:type="dcterms:W3CDTF">2026-01-10T05:20:10Z</dcterms:modified>
</cp:coreProperties>
</file>